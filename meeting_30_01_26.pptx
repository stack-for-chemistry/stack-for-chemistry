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28" d="100"/>
          <a:sy n="128" d="100"/>
        </p:scale>
        <p:origin x="520" y="176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060150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126770253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B78A90D-FE7E-41AF-B03D-808D82937CB9}" type="datetimeFigureOut">
              <a:rPr lang="de-CH"/>
              <a:t>24.05.23</a:t>
            </a:fld>
            <a:endParaRPr lang="de-CH"/>
          </a:p>
        </p:txBody>
      </p:sp>
      <p:sp>
        <p:nvSpPr>
          <p:cNvPr id="424202245" name="Folienbildplatzhalt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CH"/>
          </a:p>
        </p:txBody>
      </p:sp>
      <p:sp>
        <p:nvSpPr>
          <p:cNvPr id="1788550560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2032756400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1970985684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615DDFD-030C-4D5A-B33E-3A7E7538D2BE}" type="slidenum">
              <a:rPr lang="de-CH"/>
              <a:t>‹Nr.›</a:t>
            </a:fld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568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5575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003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057B7-6477-A9D8-D976-C813629EE3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13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7939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6374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FEA4B2-4494-D389-3681-9B16E7E337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43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588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348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19C95-8DCE-6E91-4E6D-6B1C84DEB9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26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0442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219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325A9E-E66C-EC5D-0E4D-AE90E89A52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0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5898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2962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C638F0-04A3-C976-9562-4BB4B2B083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8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0218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403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76F907-9780-18BE-BB0B-47D1E991B3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891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0305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709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ACA87E-5295-1058-57F0-87652100E1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2996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8621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121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D286F5-70AD-12B2-71F6-BAA30B9405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860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9942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3393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13D300-6FAF-11EF-9BC3-F62768B490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8456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751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741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916898-E389-F798-E524-A2A53162A4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183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02750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424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C04A8E-4B1D-42B5-E4F1-C8F2F9CAB0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media1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media2.sv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media3.sv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0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199473" name="Bildplatzhalter 4"/>
          <p:cNvSpPr>
            <a:spLocks noGrp="1"/>
          </p:cNvSpPr>
          <p:nvPr>
            <p:ph type="pic" sz="quarter" idx="11"/>
          </p:nvPr>
        </p:nvSpPr>
        <p:spPr bwMode="auto"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502917896" name="Titel 1"/>
          <p:cNvSpPr>
            <a:spLocks noGrp="1"/>
          </p:cNvSpPr>
          <p:nvPr>
            <p:ph type="ctrTitle"/>
          </p:nvPr>
        </p:nvSpPr>
        <p:spPr bwMode="auto">
          <a:xfrm>
            <a:off x="0" y="2233538"/>
            <a:ext cx="5904000" cy="2772000"/>
          </a:xfrm>
          <a:prstGeom prst="rect">
            <a:avLst/>
          </a:prstGeo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pic>
        <p:nvPicPr>
          <p:cNvPr id="561075871" name="Grafik 9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1517634361" name="Bildplatzhalter 8"/>
          <p:cNvSpPr>
            <a:spLocks noGrp="1"/>
          </p:cNvSpPr>
          <p:nvPr>
            <p:ph type="pic" sz="quarter" idx="12"/>
          </p:nvPr>
        </p:nvSpPr>
        <p:spPr bwMode="auto"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13177016" name="Textplatzhalter 3"/>
          <p:cNvSpPr>
            <a:spLocks noGrp="1"/>
          </p:cNvSpPr>
          <p:nvPr>
            <p:ph type="body" sz="quarter" idx="13"/>
          </p:nvPr>
        </p:nvSpPr>
        <p:spPr bwMode="auto"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60666095" name="Textplatzhalter 5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>
              <a:defRPr/>
            </a:pPr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0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673391" name="Bildplatzhalter 4"/>
          <p:cNvSpPr>
            <a:spLocks noGrp="1"/>
          </p:cNvSpPr>
          <p:nvPr>
            <p:ph type="pic" sz="quarter" idx="11"/>
          </p:nvPr>
        </p:nvSpPr>
        <p:spPr bwMode="auto"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187997483" name="Titel 1"/>
          <p:cNvSpPr>
            <a:spLocks noGrp="1"/>
          </p:cNvSpPr>
          <p:nvPr>
            <p:ph type="ctrTitle"/>
          </p:nvPr>
        </p:nvSpPr>
        <p:spPr bwMode="auto">
          <a:xfrm>
            <a:off x="6504000" y="2957494"/>
            <a:ext cx="5688000" cy="2268000"/>
          </a:xfrm>
          <a:prstGeom prst="rect">
            <a:avLst/>
          </a:prstGeo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pic>
        <p:nvPicPr>
          <p:cNvPr id="1247330605" name="Grafik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1263841947" name="Textplatzhalter 3"/>
          <p:cNvSpPr>
            <a:spLocks noGrp="1"/>
          </p:cNvSpPr>
          <p:nvPr>
            <p:ph type="body" sz="quarter" idx="13"/>
          </p:nvPr>
        </p:nvSpPr>
        <p:spPr bwMode="auto"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208226506" name="Bildplatzhalter 8"/>
          <p:cNvSpPr>
            <a:spLocks noGrp="1"/>
          </p:cNvSpPr>
          <p:nvPr>
            <p:ph type="pic" sz="quarter" idx="12"/>
          </p:nvPr>
        </p:nvSpPr>
        <p:spPr bwMode="auto"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33748606" name="Textplatzhalter 5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>
              <a:defRPr/>
            </a:pPr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0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76518" name="Rechteck 2"/>
          <p:cNvSpPr/>
          <p:nvPr userDrawn="1"/>
        </p:nvSpPr>
        <p:spPr bwMode="auto"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CH"/>
          </a:p>
        </p:txBody>
      </p:sp>
      <p:sp>
        <p:nvSpPr>
          <p:cNvPr id="881772372" name="Titel 1"/>
          <p:cNvSpPr>
            <a:spLocks noGrp="1"/>
          </p:cNvSpPr>
          <p:nvPr>
            <p:ph type="ctrTitle"/>
          </p:nvPr>
        </p:nvSpPr>
        <p:spPr bwMode="auto">
          <a:xfrm>
            <a:off x="-1" y="1940405"/>
            <a:ext cx="10188000" cy="342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pic>
        <p:nvPicPr>
          <p:cNvPr id="1078629854" name="Grafik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2102804139" name="Textplatzhalter 3"/>
          <p:cNvSpPr>
            <a:spLocks noGrp="1"/>
          </p:cNvSpPr>
          <p:nvPr>
            <p:ph type="body" sz="quarter" idx="13"/>
          </p:nvPr>
        </p:nvSpPr>
        <p:spPr bwMode="auto"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387687749" name="Bildplatzhalter 8"/>
          <p:cNvSpPr>
            <a:spLocks noGrp="1"/>
          </p:cNvSpPr>
          <p:nvPr>
            <p:ph type="pic" sz="quarter" idx="12"/>
          </p:nvPr>
        </p:nvSpPr>
        <p:spPr bwMode="auto"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167965169" name="Textplatzhalter 5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>
              <a:defRPr/>
            </a:pPr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0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986895" name="Titel 1"/>
          <p:cNvSpPr>
            <a:spLocks noGrp="1"/>
          </p:cNvSpPr>
          <p:nvPr>
            <p:ph type="ctrTitle"/>
          </p:nvPr>
        </p:nvSpPr>
        <p:spPr bwMode="auto">
          <a:xfrm>
            <a:off x="731837" y="1016000"/>
            <a:ext cx="10728326" cy="52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pic>
        <p:nvPicPr>
          <p:cNvPr id="280098647" name="Grafik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1851340365" name="Textplatzhalter 3"/>
          <p:cNvSpPr>
            <a:spLocks noGrp="1"/>
          </p:cNvSpPr>
          <p:nvPr>
            <p:ph type="body" sz="quarter" idx="13"/>
          </p:nvPr>
        </p:nvSpPr>
        <p:spPr bwMode="auto"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833176430" name="Bildplatzhalter 8"/>
          <p:cNvSpPr>
            <a:spLocks noGrp="1"/>
          </p:cNvSpPr>
          <p:nvPr>
            <p:ph type="pic" sz="quarter" idx="12"/>
          </p:nvPr>
        </p:nvSpPr>
        <p:spPr bwMode="auto"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2118834995" name="Textplatzhalter 5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>
              <a:defRPr/>
            </a:pPr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elfolie 04 – Uni Zür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723431" name="Bildplatzhalter 4"/>
          <p:cNvSpPr>
            <a:spLocks noGrp="1"/>
          </p:cNvSpPr>
          <p:nvPr>
            <p:ph type="pic" sz="quarter" idx="11"/>
          </p:nvPr>
        </p:nvSpPr>
        <p:spPr bwMode="auto"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626039021" name="Titel 1"/>
          <p:cNvSpPr>
            <a:spLocks noGrp="1"/>
          </p:cNvSpPr>
          <p:nvPr>
            <p:ph type="ctrTitle"/>
          </p:nvPr>
        </p:nvSpPr>
        <p:spPr bwMode="auto">
          <a:xfrm>
            <a:off x="0" y="2233538"/>
            <a:ext cx="5904000" cy="2772000"/>
          </a:xfrm>
          <a:prstGeom prst="rect">
            <a:avLst/>
          </a:prstGeo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pic>
        <p:nvPicPr>
          <p:cNvPr id="1411125503" name="Grafik 3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1499465576" name="Textplatzhalter 3"/>
          <p:cNvSpPr>
            <a:spLocks noGrp="1"/>
          </p:cNvSpPr>
          <p:nvPr>
            <p:ph type="body" sz="quarter" idx="13"/>
          </p:nvPr>
        </p:nvSpPr>
        <p:spPr bwMode="auto"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925208808" name="Bildplatzhalter 8"/>
          <p:cNvSpPr>
            <a:spLocks noGrp="1"/>
          </p:cNvSpPr>
          <p:nvPr>
            <p:ph type="pic" sz="quarter" idx="12"/>
          </p:nvPr>
        </p:nvSpPr>
        <p:spPr bwMode="auto"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023386613" name="Textplatzhalter 5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>
              <a:defRPr/>
            </a:pPr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32714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sp>
        <p:nvSpPr>
          <p:cNvPr id="250733848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1960602393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332D50A-E6CC-4D88-8908-F2129032F4C7}" type="datetime1">
              <a:rPr lang="de-CH"/>
              <a:t>24.05.23</a:t>
            </a:fld>
            <a:endParaRPr lang="de-CH"/>
          </a:p>
        </p:txBody>
      </p:sp>
      <p:sp>
        <p:nvSpPr>
          <p:cNvPr id="878725334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Organisationseinheit verbal</a:t>
            </a:r>
            <a:endParaRPr lang="de-CH"/>
          </a:p>
        </p:txBody>
      </p:sp>
      <p:sp>
        <p:nvSpPr>
          <p:cNvPr id="1067368371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CA52AF-F19D-405C-AD5F-7D94B96A5CC3}" type="slidenum">
              <a:rPr lang="de-CH"/>
              <a:t>‹Nr.›</a:t>
            </a:fld>
            <a:endParaRPr lang="de-CH"/>
          </a:p>
        </p:txBody>
      </p:sp>
      <p:pic>
        <p:nvPicPr>
          <p:cNvPr id="869922677" name="Grafik 6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731837" y="6507088"/>
            <a:ext cx="984462" cy="16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52414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sp>
        <p:nvSpPr>
          <p:cNvPr id="1047163192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826073777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1B96697-4585-4368-989A-16003D150648}" type="datetime1">
              <a:rPr lang="de-CH"/>
              <a:t>24.05.23</a:t>
            </a:fld>
            <a:endParaRPr lang="de-CH"/>
          </a:p>
        </p:txBody>
      </p:sp>
      <p:sp>
        <p:nvSpPr>
          <p:cNvPr id="1652623208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Organisationseinheit verbal</a:t>
            </a:r>
            <a:endParaRPr lang="de-CH"/>
          </a:p>
        </p:txBody>
      </p:sp>
      <p:sp>
        <p:nvSpPr>
          <p:cNvPr id="136001911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CA52AF-F19D-405C-AD5F-7D94B96A5CC3}" type="slidenum">
              <a:rPr lang="de-CH"/>
              <a:t>‹Nr.›</a:t>
            </a:fld>
            <a:endParaRPr lang="de-CH"/>
          </a:p>
        </p:txBody>
      </p:sp>
      <p:pic>
        <p:nvPicPr>
          <p:cNvPr id="1531739701" name="Grafik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7" y="6507088"/>
            <a:ext cx="984462" cy="16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 mit Fussno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80410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sp>
        <p:nvSpPr>
          <p:cNvPr id="763200922" name="Inhaltsplatzhalter 2"/>
          <p:cNvSpPr>
            <a:spLocks noGrp="1"/>
          </p:cNvSpPr>
          <p:nvPr>
            <p:ph idx="1"/>
          </p:nvPr>
        </p:nvSpPr>
        <p:spPr bwMode="auto">
          <a:xfrm>
            <a:off x="731837" y="1412875"/>
            <a:ext cx="10728325" cy="396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1563140189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A01E762-278A-4155-9BEB-7C2CB2386E92}" type="datetime1">
              <a:rPr lang="de-CH"/>
              <a:t>24.05.23</a:t>
            </a:fld>
            <a:endParaRPr lang="de-CH"/>
          </a:p>
        </p:txBody>
      </p:sp>
      <p:sp>
        <p:nvSpPr>
          <p:cNvPr id="510753517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Organisationseinheit verbal</a:t>
            </a:r>
            <a:endParaRPr lang="de-CH"/>
          </a:p>
        </p:txBody>
      </p:sp>
      <p:sp>
        <p:nvSpPr>
          <p:cNvPr id="2080114929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CA52AF-F19D-405C-AD5F-7D94B96A5CC3}" type="slidenum">
              <a:rPr lang="de-CH"/>
              <a:t>‹Nr.›</a:t>
            </a:fld>
            <a:endParaRPr lang="de-CH"/>
          </a:p>
        </p:txBody>
      </p:sp>
      <p:pic>
        <p:nvPicPr>
          <p:cNvPr id="641943031" name="Grafik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870352064" name="Textplatzhalter 10"/>
          <p:cNvSpPr>
            <a:spLocks noGrp="1"/>
          </p:cNvSpPr>
          <p:nvPr>
            <p:ph type="body" sz="quarter" idx="13"/>
          </p:nvPr>
        </p:nvSpPr>
        <p:spPr bwMode="auto"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Zwischenslide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477899" name="Titel 1"/>
          <p:cNvSpPr>
            <a:spLocks noGrp="1"/>
          </p:cNvSpPr>
          <p:nvPr>
            <p:ph type="title"/>
          </p:nvPr>
        </p:nvSpPr>
        <p:spPr bwMode="auto"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sp>
        <p:nvSpPr>
          <p:cNvPr id="855390368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C4EAFE7-317E-4912-B75C-DD6945F82242}" type="datetime1">
              <a:rPr lang="de-CH"/>
              <a:t>24.05.23</a:t>
            </a:fld>
            <a:endParaRPr lang="de-CH"/>
          </a:p>
        </p:txBody>
      </p:sp>
      <p:sp>
        <p:nvSpPr>
          <p:cNvPr id="498325020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Organisationseinheit verbal</a:t>
            </a:r>
            <a:endParaRPr lang="de-CH"/>
          </a:p>
        </p:txBody>
      </p:sp>
      <p:sp>
        <p:nvSpPr>
          <p:cNvPr id="3409094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ACA52AF-F19D-405C-AD5F-7D94B96A5CC3}" type="slidenum">
              <a:rPr lang="de-CH"/>
              <a:t>‹Nr.›</a:t>
            </a:fld>
            <a:endParaRPr lang="de-CH"/>
          </a:p>
        </p:txBody>
      </p:sp>
      <p:grpSp>
        <p:nvGrpSpPr>
          <p:cNvPr id="1034049055" name="Grafik 6"/>
          <p:cNvGrpSpPr/>
          <p:nvPr/>
        </p:nvGrpSpPr>
        <p:grpSpPr bwMode="auto"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/>
            <p:cNvGrpSpPr/>
            <p:nvPr/>
          </p:nvGrpSpPr>
          <p:grpSpPr bwMode="auto"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/>
              <p:cNvSpPr/>
              <p:nvPr/>
            </p:nvSpPr>
            <p:spPr bwMode="auto">
              <a:xfrm>
                <a:off x="1266489" y="6556934"/>
                <a:ext cx="95901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 fill="norm" stroke="1" extrusionOk="0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de-CH"/>
              </a:p>
            </p:txBody>
          </p:sp>
          <p:sp>
            <p:nvSpPr>
              <p:cNvPr id="14" name="Freihandform: Form 13"/>
              <p:cNvSpPr/>
              <p:nvPr/>
            </p:nvSpPr>
            <p:spPr bwMode="auto"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 fill="norm" stroke="1" extrusionOk="0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de-CH"/>
              </a:p>
            </p:txBody>
          </p:sp>
        </p:grpSp>
        <p:sp>
          <p:nvSpPr>
            <p:cNvPr id="15" name="Freihandform: Form 14"/>
            <p:cNvSpPr/>
            <p:nvPr/>
          </p:nvSpPr>
          <p:spPr bwMode="auto"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 fill="norm" stroke="1" extrusionOk="0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CH"/>
            </a:p>
          </p:txBody>
        </p:sp>
        <p:sp>
          <p:nvSpPr>
            <p:cNvPr id="16" name="Freihandform: Form 15"/>
            <p:cNvSpPr/>
            <p:nvPr/>
          </p:nvSpPr>
          <p:spPr bwMode="auto"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 fill="norm" stroke="1" extrusionOk="0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CH"/>
            </a:p>
          </p:txBody>
        </p:sp>
        <p:grpSp>
          <p:nvGrpSpPr>
            <p:cNvPr id="17" name="Grafik 6"/>
            <p:cNvGrpSpPr/>
            <p:nvPr/>
          </p:nvGrpSpPr>
          <p:grpSpPr bwMode="auto"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/>
              <p:cNvSpPr/>
              <p:nvPr/>
            </p:nvSpPr>
            <p:spPr bwMode="auto"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 fill="norm" stroke="1" extrusionOk="0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de-CH"/>
              </a:p>
            </p:txBody>
          </p:sp>
          <p:sp>
            <p:nvSpPr>
              <p:cNvPr id="19" name="Freihandform: Form 18"/>
              <p:cNvSpPr/>
              <p:nvPr/>
            </p:nvSpPr>
            <p:spPr bwMode="auto"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 fill="norm" stroke="1" extrusionOk="0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de-CH"/>
              </a:p>
            </p:txBody>
          </p:sp>
        </p:grpSp>
        <p:sp>
          <p:nvSpPr>
            <p:cNvPr id="20" name="Freihandform: Form 19"/>
            <p:cNvSpPr/>
            <p:nvPr/>
          </p:nvSpPr>
          <p:spPr bwMode="auto"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 fill="norm" stroke="1" extrusionOk="0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CH"/>
            </a:p>
          </p:txBody>
        </p:sp>
        <p:sp>
          <p:nvSpPr>
            <p:cNvPr id="21" name="Freihandform: Form 20"/>
            <p:cNvSpPr/>
            <p:nvPr/>
          </p:nvSpPr>
          <p:spPr bwMode="auto"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 fill="norm" stroke="1" extrusionOk="0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CH"/>
            </a:p>
          </p:txBody>
        </p:sp>
        <p:sp>
          <p:nvSpPr>
            <p:cNvPr id="22" name="Freihandform: Form 21"/>
            <p:cNvSpPr/>
            <p:nvPr/>
          </p:nvSpPr>
          <p:spPr bwMode="auto"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 fill="norm" stroke="1" extrusionOk="0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CH"/>
            </a:p>
          </p:txBody>
        </p:sp>
        <p:sp>
          <p:nvSpPr>
            <p:cNvPr id="23" name="Freihandform: Form 22"/>
            <p:cNvSpPr/>
            <p:nvPr/>
          </p:nvSpPr>
          <p:spPr bwMode="auto"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 fill="norm" stroke="1" extrusionOk="0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de-CH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78130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sp>
        <p:nvSpPr>
          <p:cNvPr id="1626767618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47C2547-0B26-4181-9958-0F74634B97A1}" type="datetime1">
              <a:rPr lang="de-CH"/>
              <a:t>24.05.23</a:t>
            </a:fld>
            <a:endParaRPr lang="de-CH"/>
          </a:p>
        </p:txBody>
      </p:sp>
      <p:sp>
        <p:nvSpPr>
          <p:cNvPr id="114176125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Organisationseinheit verbal</a:t>
            </a:r>
            <a:endParaRPr lang="de-CH"/>
          </a:p>
        </p:txBody>
      </p:sp>
      <p:sp>
        <p:nvSpPr>
          <p:cNvPr id="34025734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CA52AF-F19D-405C-AD5F-7D94B96A5CC3}" type="slidenum">
              <a:rPr lang="de-CH"/>
              <a:t>‹Nr.›</a:t>
            </a:fld>
            <a:endParaRPr lang="de-CH"/>
          </a:p>
        </p:txBody>
      </p:sp>
      <p:pic>
        <p:nvPicPr>
          <p:cNvPr id="575463870" name="Grafik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705337571" name="Bildplatzhalter 10"/>
          <p:cNvSpPr>
            <a:spLocks noGrp="1"/>
          </p:cNvSpPr>
          <p:nvPr>
            <p:ph type="pic" sz="quarter" idx="13"/>
          </p:nvPr>
        </p:nvSpPr>
        <p:spPr bwMode="auto"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ild full pa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030151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A533879-9C0F-4F94-919F-30B833E8871A}" type="datetime1">
              <a:rPr lang="de-CH"/>
              <a:t>24.05.23</a:t>
            </a:fld>
            <a:endParaRPr lang="de-CH"/>
          </a:p>
        </p:txBody>
      </p:sp>
      <p:sp>
        <p:nvSpPr>
          <p:cNvPr id="868339809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Organisationseinheit verbal</a:t>
            </a:r>
            <a:endParaRPr lang="de-CH"/>
          </a:p>
        </p:txBody>
      </p:sp>
      <p:sp>
        <p:nvSpPr>
          <p:cNvPr id="43503219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CA52AF-F19D-405C-AD5F-7D94B96A5CC3}" type="slidenum">
              <a:rPr lang="de-CH"/>
              <a:t>‹Nr.›</a:t>
            </a:fld>
            <a:endParaRPr lang="de-CH"/>
          </a:p>
        </p:txBody>
      </p:sp>
      <p:pic>
        <p:nvPicPr>
          <p:cNvPr id="2116664418" name="Grafik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474217345" name="Bildplatzhalter 10"/>
          <p:cNvSpPr>
            <a:spLocks noGrp="1"/>
          </p:cNvSpPr>
          <p:nvPr>
            <p:ph type="pic" sz="quarter" idx="13"/>
          </p:nvPr>
        </p:nvSpPr>
        <p:spPr bwMode="auto"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 zwei Spalt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84106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sp>
        <p:nvSpPr>
          <p:cNvPr id="35647168" name="Inhaltsplatzhalter 2"/>
          <p:cNvSpPr>
            <a:spLocks noGrp="1"/>
          </p:cNvSpPr>
          <p:nvPr>
            <p:ph idx="1"/>
          </p:nvPr>
        </p:nvSpPr>
        <p:spPr bwMode="auto">
          <a:xfrm>
            <a:off x="6204163" y="1412875"/>
            <a:ext cx="5256000" cy="486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1566104576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8EF82BE-DF56-4719-B180-C3B0D509F71F}" type="datetime1">
              <a:rPr lang="de-CH"/>
              <a:t>24.05.23</a:t>
            </a:fld>
            <a:endParaRPr lang="de-CH"/>
          </a:p>
        </p:txBody>
      </p:sp>
      <p:sp>
        <p:nvSpPr>
          <p:cNvPr id="1764130209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Organisationseinheit verbal</a:t>
            </a:r>
            <a:endParaRPr lang="de-CH"/>
          </a:p>
        </p:txBody>
      </p:sp>
      <p:sp>
        <p:nvSpPr>
          <p:cNvPr id="882486339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CA52AF-F19D-405C-AD5F-7D94B96A5CC3}" type="slidenum">
              <a:rPr lang="de-CH"/>
              <a:t>‹Nr.›</a:t>
            </a:fld>
            <a:endParaRPr lang="de-CH"/>
          </a:p>
        </p:txBody>
      </p:sp>
      <p:pic>
        <p:nvPicPr>
          <p:cNvPr id="199752276" name="Grafik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890170318" name="Bildplatzhalter 10"/>
          <p:cNvSpPr>
            <a:spLocks noGrp="1"/>
          </p:cNvSpPr>
          <p:nvPr>
            <p:ph type="pic" sz="quarter" idx="13"/>
          </p:nvPr>
        </p:nvSpPr>
        <p:spPr bwMode="auto"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 2 Bil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004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sp>
        <p:nvSpPr>
          <p:cNvPr id="155842595" name="Inhaltsplatzhalter 2"/>
          <p:cNvSpPr>
            <a:spLocks noGrp="1"/>
          </p:cNvSpPr>
          <p:nvPr>
            <p:ph idx="1"/>
          </p:nvPr>
        </p:nvSpPr>
        <p:spPr bwMode="auto">
          <a:xfrm>
            <a:off x="731836" y="5121800"/>
            <a:ext cx="5255999" cy="1152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556191407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E1B9425-7348-43E2-B0E9-6A2A48F5FA8A}" type="datetime1">
              <a:rPr lang="de-CH"/>
              <a:t>24.05.23</a:t>
            </a:fld>
            <a:endParaRPr lang="de-CH"/>
          </a:p>
        </p:txBody>
      </p:sp>
      <p:sp>
        <p:nvSpPr>
          <p:cNvPr id="306685340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Organisationseinheit verbal</a:t>
            </a:r>
            <a:endParaRPr lang="de-CH"/>
          </a:p>
        </p:txBody>
      </p:sp>
      <p:sp>
        <p:nvSpPr>
          <p:cNvPr id="198355151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CA52AF-F19D-405C-AD5F-7D94B96A5CC3}" type="slidenum">
              <a:rPr lang="de-CH"/>
              <a:t>‹Nr.›</a:t>
            </a:fld>
            <a:endParaRPr lang="de-CH"/>
          </a:p>
        </p:txBody>
      </p:sp>
      <p:pic>
        <p:nvPicPr>
          <p:cNvPr id="1380537026" name="Grafik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81390988" name="Bildplatzhalter 10"/>
          <p:cNvSpPr>
            <a:spLocks noGrp="1"/>
          </p:cNvSpPr>
          <p:nvPr>
            <p:ph type="pic" sz="quarter" idx="13"/>
          </p:nvPr>
        </p:nvSpPr>
        <p:spPr bwMode="auto"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2069382083" name="Bildplatzhalter 10"/>
          <p:cNvSpPr>
            <a:spLocks noGrp="1"/>
          </p:cNvSpPr>
          <p:nvPr>
            <p:ph type="pic" sz="quarter" idx="14"/>
          </p:nvPr>
        </p:nvSpPr>
        <p:spPr bwMode="auto"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912026900" name="Inhaltsplatzhalter 2"/>
          <p:cNvSpPr>
            <a:spLocks noGrp="1"/>
          </p:cNvSpPr>
          <p:nvPr>
            <p:ph idx="15"/>
          </p:nvPr>
        </p:nvSpPr>
        <p:spPr bwMode="auto">
          <a:xfrm>
            <a:off x="6204162" y="5121800"/>
            <a:ext cx="5256001" cy="1152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 3 Bil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38232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sp>
        <p:nvSpPr>
          <p:cNvPr id="318528949" name="Inhaltsplatzhalter 2"/>
          <p:cNvSpPr>
            <a:spLocks noGrp="1"/>
          </p:cNvSpPr>
          <p:nvPr>
            <p:ph idx="1"/>
          </p:nvPr>
        </p:nvSpPr>
        <p:spPr bwMode="auto">
          <a:xfrm>
            <a:off x="731836" y="4166439"/>
            <a:ext cx="10728327" cy="2124401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CH"/>
          </a:p>
        </p:txBody>
      </p:sp>
      <p:sp>
        <p:nvSpPr>
          <p:cNvPr id="134824881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7782B2-018B-4FD3-AD95-2F64EDE0E9D6}" type="datetime1">
              <a:rPr lang="de-CH"/>
              <a:t>24.05.23</a:t>
            </a:fld>
            <a:endParaRPr lang="de-CH"/>
          </a:p>
        </p:txBody>
      </p:sp>
      <p:sp>
        <p:nvSpPr>
          <p:cNvPr id="157465221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Organisationseinheit verbal</a:t>
            </a:r>
            <a:endParaRPr lang="de-CH"/>
          </a:p>
        </p:txBody>
      </p:sp>
      <p:sp>
        <p:nvSpPr>
          <p:cNvPr id="1807843261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CA52AF-F19D-405C-AD5F-7D94B96A5CC3}" type="slidenum">
              <a:rPr lang="de-CH"/>
              <a:t>‹Nr.›</a:t>
            </a:fld>
            <a:endParaRPr lang="de-CH"/>
          </a:p>
        </p:txBody>
      </p:sp>
      <p:pic>
        <p:nvPicPr>
          <p:cNvPr id="1222358960" name="Grafik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333214521" name="Bildplatzhalter 10"/>
          <p:cNvSpPr>
            <a:spLocks noGrp="1"/>
          </p:cNvSpPr>
          <p:nvPr>
            <p:ph type="pic" sz="quarter" idx="13"/>
          </p:nvPr>
        </p:nvSpPr>
        <p:spPr bwMode="auto"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203887308" name="Bildplatzhalter 10"/>
          <p:cNvSpPr>
            <a:spLocks noGrp="1"/>
          </p:cNvSpPr>
          <p:nvPr>
            <p:ph type="pic" sz="quarter" idx="16"/>
          </p:nvPr>
        </p:nvSpPr>
        <p:spPr bwMode="auto"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560248830" name="Bildplatzhalter 10"/>
          <p:cNvSpPr>
            <a:spLocks noGrp="1"/>
          </p:cNvSpPr>
          <p:nvPr>
            <p:ph type="pic" sz="quarter" idx="17"/>
          </p:nvPr>
        </p:nvSpPr>
        <p:spPr bwMode="auto"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Inhalt Tabel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8335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de-CH"/>
          </a:p>
        </p:txBody>
      </p:sp>
      <p:sp>
        <p:nvSpPr>
          <p:cNvPr id="890044144" name="Inhaltsplatzhalter 2"/>
          <p:cNvSpPr>
            <a:spLocks noGrp="1"/>
          </p:cNvSpPr>
          <p:nvPr>
            <p:ph idx="1"/>
          </p:nvPr>
        </p:nvSpPr>
        <p:spPr bwMode="auto"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46866923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0A0FED0-443D-411A-B8E4-0668A8890EE3}" type="datetime1">
              <a:rPr lang="de-CH"/>
              <a:t>24.05.23</a:t>
            </a:fld>
            <a:endParaRPr lang="de-CH"/>
          </a:p>
        </p:txBody>
      </p:sp>
      <p:sp>
        <p:nvSpPr>
          <p:cNvPr id="699482520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Organisationseinheit verbal</a:t>
            </a:r>
            <a:endParaRPr lang="de-CH"/>
          </a:p>
        </p:txBody>
      </p:sp>
      <p:sp>
        <p:nvSpPr>
          <p:cNvPr id="150006874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CA52AF-F19D-405C-AD5F-7D94B96A5CC3}" type="slidenum">
              <a:rPr lang="de-CH"/>
              <a:t>‹Nr.›</a:t>
            </a:fld>
            <a:endParaRPr lang="de-CH"/>
          </a:p>
        </p:txBody>
      </p:sp>
      <p:pic>
        <p:nvPicPr>
          <p:cNvPr id="1183808664" name="Grafik 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740391161" name="Tabellenplatzhalter 8"/>
          <p:cNvSpPr>
            <a:spLocks noGrp="1"/>
          </p:cNvSpPr>
          <p:nvPr>
            <p:ph type="tbl" sz="quarter" idx="13"/>
          </p:nvPr>
        </p:nvSpPr>
        <p:spPr bwMode="auto"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pPr>
              <a:defRPr/>
            </a:pPr>
            <a:r>
              <a:rPr lang="de-DE"/>
              <a:t>Tabelle durch Klicken auf Symbol hinzufügen</a:t>
            </a:r>
            <a:endParaRPr lang="de-CH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chlussfoli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042835" name="Inhaltsplatzhalter 2"/>
          <p:cNvSpPr>
            <a:spLocks noGrp="1"/>
          </p:cNvSpPr>
          <p:nvPr>
            <p:ph idx="1"/>
          </p:nvPr>
        </p:nvSpPr>
        <p:spPr bwMode="auto"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219739166" name="Bildplatzhalter 8"/>
          <p:cNvSpPr>
            <a:spLocks noGrp="1"/>
          </p:cNvSpPr>
          <p:nvPr>
            <p:ph type="pic" sz="quarter" idx="12"/>
          </p:nvPr>
        </p:nvSpPr>
        <p:spPr bwMode="auto"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de-CH"/>
          </a:p>
        </p:txBody>
      </p:sp>
      <p:pic>
        <p:nvPicPr>
          <p:cNvPr id="755829790" name="Grafik 21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31838" y="360538"/>
            <a:ext cx="1765565" cy="28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986413" name="Titelplatzhalter 1"/>
          <p:cNvSpPr>
            <a:spLocks noGrp="1"/>
          </p:cNvSpPr>
          <p:nvPr>
            <p:ph type="title"/>
          </p:nvPr>
        </p:nvSpPr>
        <p:spPr bwMode="auto">
          <a:xfrm>
            <a:off x="731837" y="260350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>
              <a:defRPr/>
            </a:pPr>
            <a:r>
              <a:rPr lang="de-CH"/>
              <a:t>Mastertitelformat bearbeiten</a:t>
            </a:r>
            <a:endParaRPr/>
          </a:p>
        </p:txBody>
      </p:sp>
      <p:sp>
        <p:nvSpPr>
          <p:cNvPr id="193903861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>
              <a:defRPr/>
            </a:pPr>
            <a:r>
              <a:rPr lang="de-CH"/>
              <a:t>Mastertextformat bearbeiten</a:t>
            </a:r>
            <a:endParaRPr/>
          </a:p>
          <a:p>
            <a:pPr lvl="1">
              <a:defRPr/>
            </a:pPr>
            <a:r>
              <a:rPr lang="de-CH"/>
              <a:t>Zweite Ebene</a:t>
            </a:r>
            <a:endParaRPr/>
          </a:p>
          <a:p>
            <a:pPr lvl="2">
              <a:defRPr/>
            </a:pPr>
            <a:r>
              <a:rPr lang="de-CH"/>
              <a:t>Dritte Ebene</a:t>
            </a:r>
            <a:endParaRPr/>
          </a:p>
          <a:p>
            <a:pPr lvl="3">
              <a:defRPr/>
            </a:pPr>
            <a:r>
              <a:rPr lang="de-CH"/>
              <a:t>Vierte Ebene</a:t>
            </a:r>
            <a:endParaRPr/>
          </a:p>
          <a:p>
            <a:pPr lvl="4">
              <a:defRPr/>
            </a:pPr>
            <a:r>
              <a:rPr lang="de-CH"/>
              <a:t>Fünfte Ebene</a:t>
            </a:r>
            <a:endParaRPr/>
          </a:p>
        </p:txBody>
      </p:sp>
      <p:sp>
        <p:nvSpPr>
          <p:cNvPr id="30406066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A358CF3-A22A-46C1-A4E5-5810212466EF}" type="datetime1">
              <a:rPr lang="de-CH"/>
              <a:t>24.05.23</a:t>
            </a:fld>
            <a:endParaRPr lang="de-CH"/>
          </a:p>
        </p:txBody>
      </p:sp>
      <p:sp>
        <p:nvSpPr>
          <p:cNvPr id="188904468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Organisationseinheit verbal</a:t>
            </a:r>
            <a:endParaRPr lang="de-CH"/>
          </a:p>
        </p:txBody>
      </p:sp>
      <p:sp>
        <p:nvSpPr>
          <p:cNvPr id="525212880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ACA52AF-F19D-405C-AD5F-7D94B96A5CC3}" type="slidenum">
              <a:rPr lang="de-CH"/>
              <a:t>‹Nr.›</a:t>
            </a:fld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1" ftr="1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2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>
        <a:lnSpc>
          <a:spcPct val="100000"/>
        </a:lnSpc>
        <a:spcBef>
          <a:spcPts val="10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>
        <a:lnSpc>
          <a:spcPct val="100000"/>
        </a:lnSpc>
        <a:spcBef>
          <a:spcPts val="500"/>
        </a:spcBef>
        <a:buFont typeface="Symbol"/>
        <a:buChar char="-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>
        <a:lnSpc>
          <a:spcPct val="100000"/>
        </a:lnSpc>
        <a:spcBef>
          <a:spcPts val="500"/>
        </a:spcBef>
        <a:buFont typeface="Symbol"/>
        <a:buChar char="-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>
        <a:lnSpc>
          <a:spcPct val="100000"/>
        </a:lnSpc>
        <a:spcBef>
          <a:spcPts val="500"/>
        </a:spcBef>
        <a:buFont typeface="Symbol"/>
        <a:buChar char="-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>
        <a:lnSpc>
          <a:spcPct val="100000"/>
        </a:lnSpc>
        <a:spcBef>
          <a:spcPts val="500"/>
        </a:spcBef>
        <a:buFont typeface="Symbol"/>
        <a:buChar char="-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876653" name="Bildplatzhalter 18" descr="Ein Bild, das Gebäude, Stadt, Schloss, Turm enthält.&#10;&#10;Automatisch generierte Beschreibung"/>
          <p:cNvPicPr>
            <a:picLocks noChangeAspect="1" noGrp="1"/>
          </p:cNvPicPr>
          <p:nvPr>
            <p:ph type="pic" sz="quarter" idx="11"/>
          </p:nvPr>
        </p:nvPicPr>
        <p:blipFill rotWithShape="1">
          <a:blip r:embed="rId3"/>
          <a:srcRect l="0" t="461" r="0" b="459"/>
          <a:stretch/>
        </p:blipFill>
        <p:spPr bwMode="auto"/>
      </p:pic>
      <p:sp>
        <p:nvSpPr>
          <p:cNvPr id="964754977" name="Titel 2"/>
          <p:cNvSpPr>
            <a:spLocks noGrp="1"/>
          </p:cNvSpPr>
          <p:nvPr>
            <p:ph type="ctrTitle"/>
          </p:nvPr>
        </p:nvSpPr>
        <p:spPr bwMode="auto">
          <a:xfrm flipH="0" flipV="0">
            <a:off x="0" y="2487872"/>
            <a:ext cx="5904000" cy="2162254"/>
          </a:xfrm>
        </p:spPr>
        <p:txBody>
          <a:bodyPr/>
          <a:lstStyle/>
          <a:p>
            <a:pPr>
              <a:defRPr/>
            </a:pPr>
            <a:r>
              <a:rPr lang="de-DE"/>
              <a:t>STACK for Chemistry</a:t>
            </a:r>
            <a:endParaRPr lang="de-CH"/>
          </a:p>
        </p:txBody>
      </p:sp>
      <p:sp>
        <p:nvSpPr>
          <p:cNvPr id="1663882195" name="Bildplatzhalter 1"/>
          <p:cNvSpPr>
            <a:spLocks noGrp="1"/>
          </p:cNvSpPr>
          <p:nvPr>
            <p:ph type="pic" sz="quarter" idx="12"/>
          </p:nvPr>
        </p:nvSpPr>
        <p:spPr bwMode="auto"/>
      </p:sp>
      <p:sp>
        <p:nvSpPr>
          <p:cNvPr id="814428923" name="Textplatzhalter 5"/>
          <p:cNvSpPr>
            <a:spLocks noGrp="1"/>
          </p:cNvSpPr>
          <p:nvPr>
            <p:ph type="body" sz="quarter" idx="13"/>
          </p:nvPr>
        </p:nvSpPr>
        <p:spPr bwMode="auto">
          <a:xfrm>
            <a:off x="1078515" y="3505084"/>
            <a:ext cx="4680000" cy="1008000"/>
          </a:xfrm>
        </p:spPr>
        <p:txBody>
          <a:bodyPr/>
          <a:lstStyle/>
          <a:p>
            <a:pPr>
              <a:defRPr/>
            </a:pPr>
            <a:r>
              <a:rPr lang="de-DE" b="1"/>
              <a:t>Dr. </a:t>
            </a:r>
            <a:r>
              <a:rPr lang="de-DE" sz="1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Jan Cvengros,</a:t>
            </a:r>
            <a:endParaRPr lang="de-DE" sz="1800" b="1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Melanie Brandl</a:t>
            </a:r>
            <a:r>
              <a:rPr lang="de-DE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,</a:t>
            </a:r>
            <a:endParaRPr lang="de-DE" sz="18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de-DE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Alexander Pitzer</a:t>
            </a:r>
            <a:endParaRPr lang="de-DE" sz="1800" b="0" i="0" u="none" strike="noStrike" cap="none" spc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de-CH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13870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BA2947E-D2DB-4F76-9588-775FC8D85F8C}" type="datetime1">
              <a:rPr lang="de-CH"/>
              <a:t>24.05.23</a:t>
            </a:fld>
            <a:endParaRPr lang="de-CH"/>
          </a:p>
        </p:txBody>
      </p:sp>
      <p:sp>
        <p:nvSpPr>
          <p:cNvPr id="2099557298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CA52AF-F19D-405C-AD5F-7D94B96A5CC3}" type="slidenum">
              <a:rPr lang="de-CH"/>
              <a:t>6</a:t>
            </a:fld>
            <a:endParaRPr lang="de-CH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70C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081263" name=""/>
          <p:cNvSpPr/>
          <p:nvPr/>
        </p:nvSpPr>
        <p:spPr bwMode="auto">
          <a:xfrm rot="0" flipH="0" flipV="0">
            <a:off x="3895724" y="1504949"/>
            <a:ext cx="4400550" cy="20383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>
                <a:solidFill>
                  <a:schemeClr val="bg1">
                    <a:lumMod val="65000"/>
                  </a:schemeClr>
                </a:solidFill>
              </a:rPr>
              <a:t>Databases</a:t>
            </a:r>
            <a:endParaRPr sz="24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00391233" name=""/>
          <p:cNvSpPr/>
          <p:nvPr/>
        </p:nvSpPr>
        <p:spPr bwMode="auto">
          <a:xfrm rot="0" flipH="0" flipV="0">
            <a:off x="3895724" y="1504949"/>
            <a:ext cx="4400550" cy="2038349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>
                <a:solidFill>
                  <a:schemeClr val="bg1">
                    <a:lumMod val="65000"/>
                  </a:schemeClr>
                </a:solidFill>
              </a:rPr>
              <a:t>Ra</a:t>
            </a:r>
            <a:endParaRPr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91728325" name=""/>
          <p:cNvSpPr/>
          <p:nvPr/>
        </p:nvSpPr>
        <p:spPr bwMode="auto">
          <a:xfrm rot="0" flipH="0" flipV="0">
            <a:off x="3895724" y="3543298"/>
            <a:ext cx="4400550" cy="20383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>
                <a:solidFill>
                  <a:schemeClr val="bg1">
                    <a:lumMod val="65000"/>
                  </a:schemeClr>
                </a:solidFill>
              </a:rPr>
              <a:t>Chemistry Functions</a:t>
            </a:r>
            <a:endParaRPr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51121011" name=""/>
          <p:cNvSpPr/>
          <p:nvPr/>
        </p:nvSpPr>
        <p:spPr bwMode="auto">
          <a:xfrm rot="0" flipH="0" flipV="0">
            <a:off x="3895724" y="3543299"/>
            <a:ext cx="4400550" cy="203834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>
                <a:solidFill>
                  <a:schemeClr val="bg1">
                    <a:lumMod val="65000"/>
                  </a:schemeClr>
                </a:solidFill>
              </a:rPr>
              <a:t>CAS + Feedback</a:t>
            </a:r>
            <a:endParaRPr sz="26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238152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chemeClr val="bg1"/>
                </a:solidFill>
              </a:rPr>
              <a:t>What STACK needs for </a:t>
            </a:r>
            <a:r>
              <a:rPr lang="de-DE">
                <a:solidFill>
                  <a:schemeClr val="tx1"/>
                </a:solidFill>
              </a:rPr>
              <a:t>M</a:t>
            </a:r>
            <a:r>
              <a:rPr lang="de-DE"/>
              <a:t>athematics</a:t>
            </a:r>
            <a:endParaRPr lang="de-CH"/>
          </a:p>
        </p:txBody>
      </p:sp>
      <p:sp>
        <p:nvSpPr>
          <p:cNvPr id="1535221511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B99C277-BF26-6B94-6A13-ABAE091504B5}" type="datetime1">
              <a:rPr lang="de-CH"/>
              <a:t/>
            </a:fld>
            <a:endParaRPr lang="de-CH"/>
          </a:p>
        </p:txBody>
      </p:sp>
      <p:sp>
        <p:nvSpPr>
          <p:cNvPr id="113668585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D0C7F63-DA92-1191-6A80-8CB805A1F0E0}" type="slidenum">
              <a:rPr lang="de-CH"/>
              <a:t/>
            </a:fld>
            <a:endParaRPr lang="de-CH"/>
          </a:p>
        </p:txBody>
      </p:sp>
      <p:sp>
        <p:nvSpPr>
          <p:cNvPr id="669797480" name=""/>
          <p:cNvSpPr/>
          <p:nvPr/>
        </p:nvSpPr>
        <p:spPr bwMode="auto">
          <a:xfrm>
            <a:off x="8968466" y="324594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61120474" name=""/>
          <p:cNvSpPr/>
          <p:nvPr/>
        </p:nvSpPr>
        <p:spPr bwMode="auto">
          <a:xfrm>
            <a:off x="8970266" y="313650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673715649" name="Titel 1"/>
          <p:cNvSpPr>
            <a:spLocks noGrp="1"/>
          </p:cNvSpPr>
          <p:nvPr/>
        </p:nvSpPr>
        <p:spPr bwMode="auto">
          <a:xfrm flipH="0" flipV="0">
            <a:off x="731836" y="260349"/>
            <a:ext cx="3880212" cy="900000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>
                <a:solidFill>
                  <a:schemeClr val="tx1"/>
                </a:solidFill>
              </a:rPr>
              <a:t>What STACK needs for</a:t>
            </a:r>
            <a:r>
              <a:rPr lang="de-DE"/>
              <a:t> </a:t>
            </a:r>
            <a:endParaRPr lang="de-CH"/>
          </a:p>
        </p:txBody>
      </p:sp>
      <p:sp>
        <p:nvSpPr>
          <p:cNvPr id="230355426" name=""/>
          <p:cNvSpPr txBox="1"/>
          <p:nvPr/>
        </p:nvSpPr>
        <p:spPr bwMode="auto">
          <a:xfrm rot="0" flipH="0" flipV="0">
            <a:off x="287699" y="2209799"/>
            <a:ext cx="256169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Data Generation</a:t>
            </a:r>
            <a:endParaRPr/>
          </a:p>
        </p:txBody>
      </p:sp>
      <p:sp>
        <p:nvSpPr>
          <p:cNvPr id="1156954564" name=""/>
          <p:cNvSpPr txBox="1"/>
          <p:nvPr/>
        </p:nvSpPr>
        <p:spPr bwMode="auto">
          <a:xfrm rot="0" flipH="0" flipV="0">
            <a:off x="287699" y="4333693"/>
            <a:ext cx="271949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Data Analysis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965439" name=""/>
          <p:cNvSpPr/>
          <p:nvPr/>
        </p:nvSpPr>
        <p:spPr bwMode="auto">
          <a:xfrm rot="0" flipH="0" flipV="0">
            <a:off x="3076574" y="1504949"/>
            <a:ext cx="4400550" cy="2038349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Randomization</a:t>
            </a:r>
            <a:endParaRPr/>
          </a:p>
        </p:txBody>
      </p:sp>
      <p:sp>
        <p:nvSpPr>
          <p:cNvPr id="2090187124" name=""/>
          <p:cNvSpPr/>
          <p:nvPr/>
        </p:nvSpPr>
        <p:spPr bwMode="auto">
          <a:xfrm rot="0" flipH="0" flipV="0">
            <a:off x="3076574" y="3543299"/>
            <a:ext cx="4400550" cy="203834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CAS + Feedback</a:t>
            </a:r>
            <a:endParaRPr sz="2600" b="1"/>
          </a:p>
        </p:txBody>
      </p:sp>
      <p:sp>
        <p:nvSpPr>
          <p:cNvPr id="1365399950" name=""/>
          <p:cNvSpPr/>
          <p:nvPr/>
        </p:nvSpPr>
        <p:spPr bwMode="auto">
          <a:xfrm rot="0" flipH="0" flipV="0">
            <a:off x="7477124" y="1504949"/>
            <a:ext cx="4400550" cy="20383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Databases</a:t>
            </a:r>
            <a:endParaRPr sz="2400" b="1"/>
          </a:p>
        </p:txBody>
      </p:sp>
      <p:sp>
        <p:nvSpPr>
          <p:cNvPr id="391623470" name=""/>
          <p:cNvSpPr/>
          <p:nvPr/>
        </p:nvSpPr>
        <p:spPr bwMode="auto">
          <a:xfrm rot="0" flipH="0" flipV="0">
            <a:off x="7477124" y="3543298"/>
            <a:ext cx="4400550" cy="20383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0"/>
              <a:t>C</a:t>
            </a:r>
            <a:endParaRPr b="0"/>
          </a:p>
        </p:txBody>
      </p:sp>
      <p:sp>
        <p:nvSpPr>
          <p:cNvPr id="168923337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549F9BA-A5C1-D26E-B4BF-F5179B3CF72A}" type="datetime1">
              <a:rPr lang="de-CH"/>
              <a:t/>
            </a:fld>
            <a:endParaRPr lang="de-CH"/>
          </a:p>
        </p:txBody>
      </p:sp>
      <p:sp>
        <p:nvSpPr>
          <p:cNvPr id="47027861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07B2351-8ED7-8E2E-D5EA-E5B2D92AC67D}" type="slidenum">
              <a:rPr lang="de-CH"/>
              <a:t/>
            </a:fld>
            <a:endParaRPr lang="de-CH"/>
          </a:p>
        </p:txBody>
      </p:sp>
      <p:sp>
        <p:nvSpPr>
          <p:cNvPr id="1729901720" name=""/>
          <p:cNvSpPr/>
          <p:nvPr/>
        </p:nvSpPr>
        <p:spPr bwMode="auto">
          <a:xfrm>
            <a:off x="8149316" y="324594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826926868" name=""/>
          <p:cNvSpPr/>
          <p:nvPr/>
        </p:nvSpPr>
        <p:spPr bwMode="auto">
          <a:xfrm>
            <a:off x="8151116" y="3136500"/>
            <a:ext cx="183636" cy="3661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502454192" name="Titel 1"/>
          <p:cNvSpPr>
            <a:spLocks noGrp="1"/>
          </p:cNvSpPr>
          <p:nvPr/>
        </p:nvSpPr>
        <p:spPr bwMode="auto">
          <a:xfrm flipH="0" flipV="0">
            <a:off x="1624" y="6302374"/>
            <a:ext cx="12268161" cy="534873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STACK needs chemistry-specific data tools for efficient question generation</a:t>
            </a:r>
            <a:endParaRPr sz="1800"/>
          </a:p>
        </p:txBody>
      </p:sp>
      <p:sp>
        <p:nvSpPr>
          <p:cNvPr id="1872588380" name="Titel 1"/>
          <p:cNvSpPr>
            <a:spLocks noGrp="1"/>
          </p:cNvSpPr>
          <p:nvPr>
            <p:ph type="title"/>
          </p:nvPr>
        </p:nvSpPr>
        <p:spPr bwMode="auto">
          <a:xfrm>
            <a:off x="731836" y="260349"/>
            <a:ext cx="10728324" cy="900000"/>
          </a:xfrm>
        </p:spPr>
        <p:txBody>
          <a:bodyPr/>
          <a:lstStyle/>
          <a:p>
            <a:pPr>
              <a:defRPr/>
            </a:pPr>
            <a:r>
              <a:rPr lang="de-DE">
                <a:solidFill>
                  <a:schemeClr val="bg1"/>
                </a:solidFill>
              </a:rPr>
              <a:t>What STACK needs for </a:t>
            </a:r>
            <a:r>
              <a:rPr lang="de-DE"/>
              <a:t>Chemistry</a:t>
            </a:r>
            <a:endParaRPr lang="de-CH"/>
          </a:p>
        </p:txBody>
      </p:sp>
      <p:sp>
        <p:nvSpPr>
          <p:cNvPr id="61563612" name="Titel 1"/>
          <p:cNvSpPr>
            <a:spLocks noGrp="1"/>
          </p:cNvSpPr>
          <p:nvPr/>
        </p:nvSpPr>
        <p:spPr bwMode="auto">
          <a:xfrm flipH="0" flipV="0">
            <a:off x="731836" y="260349"/>
            <a:ext cx="3880211" cy="900000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>
                <a:solidFill>
                  <a:schemeClr val="tx1"/>
                </a:solidFill>
              </a:rPr>
              <a:t>What STACK needs for</a:t>
            </a:r>
            <a:r>
              <a:rPr lang="de-DE"/>
              <a:t> </a:t>
            </a:r>
            <a:endParaRPr lang="de-CH"/>
          </a:p>
        </p:txBody>
      </p:sp>
      <p:sp>
        <p:nvSpPr>
          <p:cNvPr id="2107392450" name=""/>
          <p:cNvSpPr txBox="1"/>
          <p:nvPr/>
        </p:nvSpPr>
        <p:spPr bwMode="auto">
          <a:xfrm rot="0" flipH="0" flipV="0">
            <a:off x="287699" y="2209799"/>
            <a:ext cx="256133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Data Generation</a:t>
            </a:r>
            <a:endParaRPr/>
          </a:p>
        </p:txBody>
      </p:sp>
      <p:sp>
        <p:nvSpPr>
          <p:cNvPr id="691605276" name=""/>
          <p:cNvSpPr txBox="1"/>
          <p:nvPr/>
        </p:nvSpPr>
        <p:spPr bwMode="auto">
          <a:xfrm rot="0" flipH="0" flipV="0">
            <a:off x="287699" y="4333693"/>
            <a:ext cx="271913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Data Analysis</a:t>
            </a:r>
            <a:endParaRPr/>
          </a:p>
        </p:txBody>
      </p:sp>
      <p:sp>
        <p:nvSpPr>
          <p:cNvPr id="951379854" name="Titel 1"/>
          <p:cNvSpPr>
            <a:spLocks noGrp="1"/>
          </p:cNvSpPr>
          <p:nvPr/>
        </p:nvSpPr>
        <p:spPr bwMode="auto">
          <a:xfrm>
            <a:off x="693736" y="6948598"/>
            <a:ext cx="10728324" cy="900000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First Steps: Calculating the Molar Mass of Simple Molecules </a:t>
            </a:r>
            <a:endParaRPr lang="de-CH"/>
          </a:p>
        </p:txBody>
      </p:sp>
      <p:sp>
        <p:nvSpPr>
          <p:cNvPr id="2025930413" name=""/>
          <p:cNvSpPr/>
          <p:nvPr/>
        </p:nvSpPr>
        <p:spPr bwMode="auto">
          <a:xfrm rot="0" flipH="0" flipV="0">
            <a:off x="687749" y="7716947"/>
            <a:ext cx="10915649" cy="52006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:[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 [[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"H"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2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"O"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]],            </a:t>
            </a: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Water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 [[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"C"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"O"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2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]],            </a:t>
            </a: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Carbon dioxide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];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Choose one of these.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rand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The CL list written as a single string.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CN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apply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sconcat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lambda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 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if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is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second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)=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then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else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sconcat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string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second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)))),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Calculate the final answer.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ta1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stackunits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dispsf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apply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"+"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lambda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second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)*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chem_data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3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chem_units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Create a table of atomic masses of the elements used.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Get unique elements in the formula CL.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setify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Make a list of list of values.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lambda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 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dispsf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chem_data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3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)]),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listify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 algn="ctr"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apply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table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append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"Element"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 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]],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/>
          </a:p>
        </p:txBody>
      </p:sp>
      <p:sp>
        <p:nvSpPr>
          <p:cNvPr id="345910565" name="Titel 1"/>
          <p:cNvSpPr>
            <a:spLocks noGrp="1"/>
          </p:cNvSpPr>
          <p:nvPr/>
        </p:nvSpPr>
        <p:spPr bwMode="auto">
          <a:xfrm flipH="0" flipV="0">
            <a:off x="-36474" y="12990623"/>
            <a:ext cx="12268161" cy="534873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Chris Sangwin‘s implementation showed that chemistry databases can be utilized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85514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First Steps: Automated Molar Mass Calculation</a:t>
            </a:r>
            <a:endParaRPr lang="de-CH"/>
          </a:p>
        </p:txBody>
      </p:sp>
      <p:sp>
        <p:nvSpPr>
          <p:cNvPr id="588502921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1A3495-81A7-DA67-541D-269FCAE22BC1}" type="datetime1">
              <a:rPr lang="de-CH"/>
              <a:t/>
            </a:fld>
            <a:endParaRPr lang="de-CH"/>
          </a:p>
        </p:txBody>
      </p:sp>
      <p:sp>
        <p:nvSpPr>
          <p:cNvPr id="262105129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0EE8147-AEDE-D83F-9F19-603E1AC3441B}" type="slidenum">
              <a:rPr lang="de-CH"/>
              <a:t/>
            </a:fld>
            <a:endParaRPr lang="de-CH"/>
          </a:p>
        </p:txBody>
      </p:sp>
      <p:sp>
        <p:nvSpPr>
          <p:cNvPr id="1721762166" name=""/>
          <p:cNvSpPr/>
          <p:nvPr/>
        </p:nvSpPr>
        <p:spPr bwMode="auto">
          <a:xfrm rot="0" flipH="0" flipV="0">
            <a:off x="725850" y="1028699"/>
            <a:ext cx="10915649" cy="52006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:[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 [[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"H"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2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"O"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]],            </a:t>
            </a: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Water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 [[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"C"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"O"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2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]],            </a:t>
            </a: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Carbon dioxide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];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Choose one of these.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rand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The CL list written as a single string.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CN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apply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sconcat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lambda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 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if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is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second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)=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then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else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sconcat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string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second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)))),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Calculate the final answer.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ta1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stackunits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dispsf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apply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"+"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lambda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second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)*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chem_data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3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chem_units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Create a table of atomic masses of the elements used.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Get unique elements in the formula CL.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setify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Make a list of list of values.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lambda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 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dispsf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chem_data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3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)]),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listify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 algn="ctr"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apply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table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append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"Element"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 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]],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/>
          </a:p>
        </p:txBody>
      </p:sp>
      <p:sp>
        <p:nvSpPr>
          <p:cNvPr id="1596244873" name="Titel 1"/>
          <p:cNvSpPr>
            <a:spLocks noGrp="1"/>
          </p:cNvSpPr>
          <p:nvPr/>
        </p:nvSpPr>
        <p:spPr bwMode="auto">
          <a:xfrm flipH="0" flipV="0">
            <a:off x="1624" y="6302374"/>
            <a:ext cx="12268161" cy="534873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Chris Sangwin showed that databases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can power automated chemistry questions</a:t>
            </a:r>
            <a:endParaRPr sz="1800"/>
          </a:p>
        </p:txBody>
      </p:sp>
      <p:sp>
        <p:nvSpPr>
          <p:cNvPr id="1664925625" name=""/>
          <p:cNvSpPr/>
          <p:nvPr/>
        </p:nvSpPr>
        <p:spPr bwMode="auto">
          <a:xfrm rot="0" flipH="0" flipV="0">
            <a:off x="3076573" y="-5543550"/>
            <a:ext cx="4400550" cy="2038348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Randomization</a:t>
            </a:r>
            <a:endParaRPr/>
          </a:p>
        </p:txBody>
      </p:sp>
      <p:sp>
        <p:nvSpPr>
          <p:cNvPr id="980001573" name=""/>
          <p:cNvSpPr/>
          <p:nvPr/>
        </p:nvSpPr>
        <p:spPr bwMode="auto">
          <a:xfrm rot="0" flipH="0" flipV="0">
            <a:off x="3076573" y="-3505200"/>
            <a:ext cx="4400550" cy="2038348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CAS + Feedback</a:t>
            </a:r>
            <a:endParaRPr sz="2600" b="1"/>
          </a:p>
        </p:txBody>
      </p:sp>
      <p:sp>
        <p:nvSpPr>
          <p:cNvPr id="161162199" name=""/>
          <p:cNvSpPr/>
          <p:nvPr/>
        </p:nvSpPr>
        <p:spPr bwMode="auto">
          <a:xfrm rot="0" flipH="0" flipV="0">
            <a:off x="7477123" y="-5543550"/>
            <a:ext cx="4400550" cy="20383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Databases</a:t>
            </a:r>
            <a:endParaRPr sz="2400" b="1"/>
          </a:p>
        </p:txBody>
      </p:sp>
      <p:sp>
        <p:nvSpPr>
          <p:cNvPr id="861968936" name=""/>
          <p:cNvSpPr/>
          <p:nvPr/>
        </p:nvSpPr>
        <p:spPr bwMode="auto">
          <a:xfrm rot="0" flipH="0" flipV="0">
            <a:off x="7477123" y="-3505201"/>
            <a:ext cx="4400550" cy="20383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Chemistry Functions</a:t>
            </a:r>
            <a:endParaRPr b="0"/>
          </a:p>
        </p:txBody>
      </p:sp>
      <p:sp>
        <p:nvSpPr>
          <p:cNvPr id="757772928" name="Titel 1"/>
          <p:cNvSpPr>
            <a:spLocks noGrp="1"/>
          </p:cNvSpPr>
          <p:nvPr/>
        </p:nvSpPr>
        <p:spPr bwMode="auto">
          <a:xfrm flipH="0" flipV="0">
            <a:off x="1624" y="-746124"/>
            <a:ext cx="12268161" cy="534873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STACK needs chemistry-specific data tools for efficient question generation</a:t>
            </a:r>
            <a:endParaRPr sz="1800"/>
          </a:p>
        </p:txBody>
      </p:sp>
      <p:sp>
        <p:nvSpPr>
          <p:cNvPr id="232494750" name="Titel 1"/>
          <p:cNvSpPr>
            <a:spLocks noGrp="1"/>
          </p:cNvSpPr>
          <p:nvPr/>
        </p:nvSpPr>
        <p:spPr bwMode="auto">
          <a:xfrm>
            <a:off x="731836" y="-6788149"/>
            <a:ext cx="10728324" cy="900000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>
                <a:solidFill>
                  <a:schemeClr val="bg1"/>
                </a:solidFill>
              </a:rPr>
              <a:t>What STACK needs for </a:t>
            </a:r>
            <a:r>
              <a:rPr lang="de-DE"/>
              <a:t>Chemistry</a:t>
            </a:r>
            <a:endParaRPr lang="de-CH"/>
          </a:p>
        </p:txBody>
      </p:sp>
      <p:sp>
        <p:nvSpPr>
          <p:cNvPr id="771862350" name="Titel 1"/>
          <p:cNvSpPr>
            <a:spLocks noGrp="1"/>
          </p:cNvSpPr>
          <p:nvPr/>
        </p:nvSpPr>
        <p:spPr bwMode="auto">
          <a:xfrm flipH="0" flipV="0">
            <a:off x="731836" y="-6788149"/>
            <a:ext cx="3880211" cy="900000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>
                <a:solidFill>
                  <a:schemeClr val="tx1"/>
                </a:solidFill>
              </a:rPr>
              <a:t>What STACK needs for</a:t>
            </a:r>
            <a:r>
              <a:rPr lang="de-DE"/>
              <a:t> </a:t>
            </a:r>
            <a:endParaRPr lang="de-CH"/>
          </a:p>
        </p:txBody>
      </p:sp>
      <p:sp>
        <p:nvSpPr>
          <p:cNvPr id="2026949345" name=""/>
          <p:cNvSpPr txBox="1"/>
          <p:nvPr/>
        </p:nvSpPr>
        <p:spPr bwMode="auto">
          <a:xfrm rot="0" flipH="0" flipV="0">
            <a:off x="287699" y="-4838699"/>
            <a:ext cx="256169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Data Generation</a:t>
            </a:r>
            <a:endParaRPr/>
          </a:p>
        </p:txBody>
      </p:sp>
      <p:sp>
        <p:nvSpPr>
          <p:cNvPr id="1322443026" name=""/>
          <p:cNvSpPr txBox="1"/>
          <p:nvPr/>
        </p:nvSpPr>
        <p:spPr bwMode="auto">
          <a:xfrm rot="0" flipH="0" flipV="0">
            <a:off x="287699" y="-2714805"/>
            <a:ext cx="271949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Data Analysis</a:t>
            </a:r>
            <a:endParaRPr/>
          </a:p>
        </p:txBody>
      </p:sp>
      <p:sp>
        <p:nvSpPr>
          <p:cNvPr id="652464144" name=""/>
          <p:cNvSpPr/>
          <p:nvPr/>
        </p:nvSpPr>
        <p:spPr bwMode="auto">
          <a:xfrm rot="0" flipH="0" flipV="0">
            <a:off x="3076573" y="-3505201"/>
            <a:ext cx="4400550" cy="2038348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CAS + Feedback</a:t>
            </a:r>
            <a:endParaRPr sz="2600" b="1"/>
          </a:p>
        </p:txBody>
      </p:sp>
      <p:sp>
        <p:nvSpPr>
          <p:cNvPr id="1654729840" name=""/>
          <p:cNvSpPr/>
          <p:nvPr/>
        </p:nvSpPr>
        <p:spPr bwMode="auto">
          <a:xfrm rot="0" flipH="0" flipV="0">
            <a:off x="7477123" y="-3505202"/>
            <a:ext cx="4400550" cy="20383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Chemistry Functions</a:t>
            </a:r>
            <a:endParaRPr b="0"/>
          </a:p>
        </p:txBody>
      </p:sp>
      <p:sp>
        <p:nvSpPr>
          <p:cNvPr id="367903782" name="Titel 1"/>
          <p:cNvSpPr>
            <a:spLocks noGrp="1"/>
          </p:cNvSpPr>
          <p:nvPr/>
        </p:nvSpPr>
        <p:spPr bwMode="auto">
          <a:xfrm flipH="0" flipV="0">
            <a:off x="1624" y="-746125"/>
            <a:ext cx="12268161" cy="534873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STACK needs chemistry-specific data tools for efficient question generation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018162" name="Titel 1"/>
          <p:cNvSpPr>
            <a:spLocks noGrp="1"/>
          </p:cNvSpPr>
          <p:nvPr>
            <p:ph type="title"/>
          </p:nvPr>
        </p:nvSpPr>
        <p:spPr bwMode="auto">
          <a:xfrm>
            <a:off x="731836" y="6927849"/>
            <a:ext cx="10728324" cy="900000"/>
          </a:xfrm>
        </p:spPr>
        <p:txBody>
          <a:bodyPr/>
          <a:lstStyle/>
          <a:p>
            <a:pPr>
              <a:defRPr/>
            </a:pPr>
            <a:r>
              <a:rPr lang="de-DE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First Steps: Automated Molar Mass Calculation</a:t>
            </a:r>
            <a:endParaRPr lang="de-CH"/>
          </a:p>
        </p:txBody>
      </p:sp>
      <p:sp>
        <p:nvSpPr>
          <p:cNvPr id="1813716310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02CC11F-1AC8-F02F-381E-0896181D4E62}" type="datetime1">
              <a:rPr lang="de-CH"/>
              <a:t/>
            </a:fld>
            <a:endParaRPr lang="de-CH"/>
          </a:p>
        </p:txBody>
      </p:sp>
      <p:sp>
        <p:nvSpPr>
          <p:cNvPr id="509483628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C61B72A-95E5-AF7E-A2B7-9323A644AD74}" type="slidenum">
              <a:rPr lang="de-CH"/>
              <a:t/>
            </a:fld>
            <a:endParaRPr lang="de-CH"/>
          </a:p>
        </p:txBody>
      </p:sp>
      <p:sp>
        <p:nvSpPr>
          <p:cNvPr id="259657153" name=""/>
          <p:cNvSpPr/>
          <p:nvPr/>
        </p:nvSpPr>
        <p:spPr bwMode="auto">
          <a:xfrm rot="0" flipH="0" flipV="0">
            <a:off x="725850" y="7696199"/>
            <a:ext cx="10915649" cy="520065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:[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 [[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"H"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2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"O"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]],            </a:t>
            </a: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Water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 [[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"C"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"O"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2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]],            </a:t>
            </a: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Carbon dioxide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];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Choose one of these.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rand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The CL list written as a single string.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CN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apply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sconcat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lambda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 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if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is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second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)=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then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else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sconcat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string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second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)))),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Calculate the final answer.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ta1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stackunits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dispsf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apply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"+"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lambda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second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)*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chem_data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3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chem_units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Create a table of atomic masses of the elements used.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Get unique elements in the formula CL.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setify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first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CL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7CA668"/>
                </a:solidFill>
                <a:latin typeface="Droid Sans Mono"/>
                <a:ea typeface="Droid Sans Mono"/>
                <a:cs typeface="Droid Sans Mono"/>
              </a:rPr>
              <a:t>/* Make a list of list of values. */</a:t>
            </a:r>
            <a:endParaRPr sz="1800"/>
          </a:p>
          <a:p>
            <a:pPr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map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lambda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 [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dispsf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chem_data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ex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r>
              <a:rPr lang="de-DE" sz="1800" b="0" i="0" u="none" strike="noStrike" cap="none" spc="0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3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)]),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listify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 sz="1800"/>
          </a:p>
          <a:p>
            <a:pPr algn="ctr">
              <a:defRPr/>
            </a:pP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apply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table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append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([[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"Element"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lang="de-DE" sz="1800" b="0" i="0" u="none" strike="noStrike" cap="none" spc="0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"Atomic Mass"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]], </a:t>
            </a:r>
            <a:r>
              <a:rPr lang="de-DE" sz="1800" b="0" i="0" u="none" strike="noStrike" cap="none" spc="0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tt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));</a:t>
            </a:r>
            <a:endParaRPr/>
          </a:p>
        </p:txBody>
      </p:sp>
      <p:sp>
        <p:nvSpPr>
          <p:cNvPr id="589832974" name="Titel 1"/>
          <p:cNvSpPr>
            <a:spLocks noGrp="1"/>
          </p:cNvSpPr>
          <p:nvPr/>
        </p:nvSpPr>
        <p:spPr bwMode="auto">
          <a:xfrm flipH="0" flipV="0">
            <a:off x="1624" y="12969874"/>
            <a:ext cx="12268161" cy="534873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Chris Sangwin showed that databases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can power automated chemistry questions</a:t>
            </a:r>
            <a:endParaRPr sz="1800"/>
          </a:p>
        </p:txBody>
      </p:sp>
      <p:sp>
        <p:nvSpPr>
          <p:cNvPr id="1736891576" name=""/>
          <p:cNvSpPr/>
          <p:nvPr/>
        </p:nvSpPr>
        <p:spPr bwMode="auto">
          <a:xfrm rot="0" flipH="0" flipV="0">
            <a:off x="3076573" y="1543049"/>
            <a:ext cx="4400550" cy="203834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Randomization</a:t>
            </a:r>
            <a:endParaRPr/>
          </a:p>
        </p:txBody>
      </p:sp>
      <p:sp>
        <p:nvSpPr>
          <p:cNvPr id="938998432" name=""/>
          <p:cNvSpPr/>
          <p:nvPr/>
        </p:nvSpPr>
        <p:spPr bwMode="auto">
          <a:xfrm rot="0" flipH="0" flipV="0">
            <a:off x="7477123" y="1543049"/>
            <a:ext cx="4400550" cy="203834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Databases</a:t>
            </a:r>
            <a:endParaRPr sz="2400" b="1"/>
          </a:p>
        </p:txBody>
      </p:sp>
      <p:sp>
        <p:nvSpPr>
          <p:cNvPr id="1118783568" name="Titel 1"/>
          <p:cNvSpPr>
            <a:spLocks noGrp="1"/>
          </p:cNvSpPr>
          <p:nvPr/>
        </p:nvSpPr>
        <p:spPr bwMode="auto">
          <a:xfrm>
            <a:off x="731836" y="298449"/>
            <a:ext cx="10728324" cy="900000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>
                <a:solidFill>
                  <a:schemeClr val="bg1"/>
                </a:solidFill>
              </a:rPr>
              <a:t>What STACK needs for </a:t>
            </a:r>
            <a:r>
              <a:rPr lang="de-DE"/>
              <a:t>Chemistry</a:t>
            </a:r>
            <a:endParaRPr lang="de-CH"/>
          </a:p>
        </p:txBody>
      </p:sp>
      <p:sp>
        <p:nvSpPr>
          <p:cNvPr id="903452015" name="Titel 1"/>
          <p:cNvSpPr>
            <a:spLocks noGrp="1"/>
          </p:cNvSpPr>
          <p:nvPr/>
        </p:nvSpPr>
        <p:spPr bwMode="auto">
          <a:xfrm flipH="0" flipV="0">
            <a:off x="731836" y="298449"/>
            <a:ext cx="3880211" cy="900000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>
                <a:solidFill>
                  <a:schemeClr val="tx1"/>
                </a:solidFill>
              </a:rPr>
              <a:t>What STACK needs for</a:t>
            </a:r>
            <a:r>
              <a:rPr lang="de-DE"/>
              <a:t> </a:t>
            </a:r>
            <a:endParaRPr lang="de-CH"/>
          </a:p>
        </p:txBody>
      </p:sp>
      <p:sp>
        <p:nvSpPr>
          <p:cNvPr id="272228223" name=""/>
          <p:cNvSpPr txBox="1"/>
          <p:nvPr/>
        </p:nvSpPr>
        <p:spPr bwMode="auto">
          <a:xfrm rot="0" flipH="0" flipV="0">
            <a:off x="287699" y="2247899"/>
            <a:ext cx="256169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Data Generation</a:t>
            </a:r>
            <a:endParaRPr/>
          </a:p>
        </p:txBody>
      </p:sp>
      <p:sp>
        <p:nvSpPr>
          <p:cNvPr id="759904770" name=""/>
          <p:cNvSpPr txBox="1"/>
          <p:nvPr/>
        </p:nvSpPr>
        <p:spPr bwMode="auto">
          <a:xfrm rot="0" flipH="0" flipV="0">
            <a:off x="287699" y="4371793"/>
            <a:ext cx="271949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Data Analysis</a:t>
            </a:r>
            <a:endParaRPr/>
          </a:p>
        </p:txBody>
      </p:sp>
      <p:sp>
        <p:nvSpPr>
          <p:cNvPr id="1991359094" name=""/>
          <p:cNvSpPr/>
          <p:nvPr/>
        </p:nvSpPr>
        <p:spPr bwMode="auto">
          <a:xfrm rot="0" flipH="0" flipV="0">
            <a:off x="3076573" y="3581397"/>
            <a:ext cx="4400550" cy="203834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CAS + Feedback</a:t>
            </a:r>
            <a:endParaRPr sz="2600" b="1"/>
          </a:p>
        </p:txBody>
      </p:sp>
      <p:sp>
        <p:nvSpPr>
          <p:cNvPr id="569641344" name=""/>
          <p:cNvSpPr/>
          <p:nvPr/>
        </p:nvSpPr>
        <p:spPr bwMode="auto">
          <a:xfrm rot="0" flipH="0" flipV="0">
            <a:off x="7477123" y="3581397"/>
            <a:ext cx="4400550" cy="2038348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Chemistry Functions</a:t>
            </a:r>
            <a:endParaRPr b="0"/>
          </a:p>
        </p:txBody>
      </p:sp>
      <p:sp>
        <p:nvSpPr>
          <p:cNvPr id="1236733761" name="Titel 1"/>
          <p:cNvSpPr>
            <a:spLocks noGrp="1"/>
          </p:cNvSpPr>
          <p:nvPr/>
        </p:nvSpPr>
        <p:spPr bwMode="auto">
          <a:xfrm flipH="0" flipV="0">
            <a:off x="1624" y="6340473"/>
            <a:ext cx="12268161" cy="534873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STACK needs chemistry-specific data tools for efficient question generation</a:t>
            </a:r>
            <a:endParaRPr sz="1800"/>
          </a:p>
        </p:txBody>
      </p:sp>
      <p:sp>
        <p:nvSpPr>
          <p:cNvPr id="1898885836" name="Titel 1"/>
          <p:cNvSpPr>
            <a:spLocks noGrp="1"/>
          </p:cNvSpPr>
          <p:nvPr/>
        </p:nvSpPr>
        <p:spPr bwMode="auto">
          <a:xfrm>
            <a:off x="12961936" y="298449"/>
            <a:ext cx="10728324" cy="900000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Core Components of a STACK Chemistry Module</a:t>
            </a:r>
            <a:endParaRPr lang="de-CH"/>
          </a:p>
        </p:txBody>
      </p:sp>
      <p:sp>
        <p:nvSpPr>
          <p:cNvPr id="1453313653" name=""/>
          <p:cNvSpPr/>
          <p:nvPr/>
        </p:nvSpPr>
        <p:spPr bwMode="auto">
          <a:xfrm rot="0" flipH="0" flipV="0">
            <a:off x="12974998" y="1123948"/>
            <a:ext cx="2952749" cy="1466849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Chemical Databases</a:t>
            </a:r>
            <a:endParaRPr/>
          </a:p>
        </p:txBody>
      </p:sp>
      <p:sp>
        <p:nvSpPr>
          <p:cNvPr id="881409618" name="Titel 1"/>
          <p:cNvSpPr>
            <a:spLocks noGrp="1"/>
          </p:cNvSpPr>
          <p:nvPr/>
        </p:nvSpPr>
        <p:spPr bwMode="auto">
          <a:xfrm flipH="0" flipV="0">
            <a:off x="12231724" y="6340474"/>
            <a:ext cx="12268161" cy="534873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module’s data handling enables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intuitive &amp; scalable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question design</a:t>
            </a:r>
            <a:endParaRPr lang="de-DE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2506768" name=""/>
          <p:cNvSpPr/>
          <p:nvPr/>
        </p:nvSpPr>
        <p:spPr bwMode="auto">
          <a:xfrm rot="0" flipH="0" flipV="0">
            <a:off x="12974998" y="2933698"/>
            <a:ext cx="2952749" cy="1466848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Data Retrieval</a:t>
            </a:r>
            <a:endParaRPr sz="2400" b="1"/>
          </a:p>
          <a:p>
            <a:pPr algn="ctr">
              <a:defRPr/>
            </a:pPr>
            <a:r>
              <a:rPr sz="2400" b="1"/>
              <a:t>Functions</a:t>
            </a:r>
            <a:endParaRPr/>
          </a:p>
        </p:txBody>
      </p:sp>
      <p:sp>
        <p:nvSpPr>
          <p:cNvPr id="617105275" name=""/>
          <p:cNvSpPr/>
          <p:nvPr/>
        </p:nvSpPr>
        <p:spPr bwMode="auto">
          <a:xfrm rot="0" flipH="0" flipV="0">
            <a:off x="12974998" y="4724398"/>
            <a:ext cx="2952749" cy="1466848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Data Manipulation</a:t>
            </a:r>
            <a:endParaRPr sz="2400" b="1"/>
          </a:p>
          <a:p>
            <a:pPr algn="ctr">
              <a:defRPr/>
            </a:pPr>
            <a:r>
              <a:rPr sz="2400" b="1"/>
              <a:t>Functions</a:t>
            </a:r>
            <a:endParaRPr/>
          </a:p>
        </p:txBody>
      </p:sp>
      <p:sp>
        <p:nvSpPr>
          <p:cNvPr id="1528720022" name=""/>
          <p:cNvSpPr/>
          <p:nvPr/>
        </p:nvSpPr>
        <p:spPr bwMode="auto">
          <a:xfrm rot="0" flipH="0" flipV="0">
            <a:off x="16289699" y="4724398"/>
            <a:ext cx="7495810" cy="1466848"/>
          </a:xfrm>
          <a:prstGeom prst="flowChartAlternateProcess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chem_molar_mass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formula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:= </a:t>
            </a: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block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parsed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total_mass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elem_data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	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parsed</a:t>
            </a:r>
            <a:r>
              <a:rPr sz="1800" b="0" i="0" u="none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 </a:t>
            </a: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chem_parse_formula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formula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endParaRPr sz="1800" b="0" i="0" u="none">
              <a:solidFill>
                <a:srgbClr val="D4D4D4"/>
              </a:solidFill>
              <a:latin typeface="Droid Sans Mono"/>
              <a:ea typeface="Droid Sans Mono"/>
              <a:cs typeface="Droid Sans Mono"/>
            </a:endParaRPr>
          </a:p>
          <a:p>
            <a:pPr>
              <a:defRPr/>
            </a:pPr>
            <a:r>
              <a:rPr sz="1800" b="0" i="0" u="none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	...</a:t>
            </a:r>
            <a:endParaRPr sz="1800" b="0" i="0" u="none">
              <a:solidFill>
                <a:srgbClr val="D4D4D4"/>
              </a:solidFill>
              <a:latin typeface="Droid Sans Mono"/>
              <a:ea typeface="Droid Sans Mono"/>
              <a:cs typeface="Droid Sans Mono"/>
            </a:endParaRPr>
          </a:p>
          <a:p>
            <a:pPr>
              <a:defRPr/>
            </a:pP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   return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stackunits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total_mass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g</a:t>
            </a:r>
            <a:r>
              <a:rPr sz="1800" b="0" i="0" u="none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*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mol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^(-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)))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)$</a:t>
            </a:r>
            <a:endParaRPr sz="1800"/>
          </a:p>
        </p:txBody>
      </p:sp>
      <p:sp>
        <p:nvSpPr>
          <p:cNvPr id="1704068849" name=""/>
          <p:cNvSpPr/>
          <p:nvPr/>
        </p:nvSpPr>
        <p:spPr bwMode="auto">
          <a:xfrm rot="0" flipH="0" flipV="0">
            <a:off x="16289699" y="1123948"/>
            <a:ext cx="7495810" cy="1466848"/>
          </a:xfrm>
          <a:prstGeom prst="flowChartAlternateProcess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%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_CHEM_ELEMENTS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: [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[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"H"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 [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"Hydrogen"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1.01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"1s1"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2.20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	120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13.598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0.754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"+1, -1"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"Gas"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13.81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	20.28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0.00008988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"Nonmetal"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1766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</a:t>
            </a:r>
            <a:endParaRPr sz="1800" b="0" i="0" u="none">
              <a:solidFill>
                <a:srgbClr val="FFFFFF"/>
              </a:solidFill>
              <a:latin typeface="Droid Sans Mono"/>
              <a:ea typeface="Droid Sans Mono"/>
              <a:cs typeface="Droid Sans Mono"/>
            </a:endParaRPr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],</a:t>
            </a:r>
            <a:r>
              <a:rPr sz="1800"/>
              <a:t> 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...</a:t>
            </a:r>
            <a:r>
              <a:rPr sz="1800"/>
              <a:t> ]</a:t>
            </a:r>
            <a:endParaRPr lang="de-DE" sz="1800" b="0" i="0" u="none" strike="noStrike" cap="none" spc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904752048" name=""/>
          <p:cNvSpPr/>
          <p:nvPr/>
        </p:nvSpPr>
        <p:spPr bwMode="auto">
          <a:xfrm rot="0" flipH="0" flipV="0">
            <a:off x="16289699" y="2933698"/>
            <a:ext cx="7495810" cy="1466848"/>
          </a:xfrm>
          <a:prstGeom prst="flowChartAlternateProcess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chem_electron_config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element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:= </a:t>
            </a: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block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config_str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config_str</a:t>
            </a:r>
            <a:r>
              <a:rPr sz="1800" b="0" i="0" u="none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 </a:t>
            </a: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chem_data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element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"ElectronConfiguration"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</a:t>
            </a: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if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is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config_str</a:t>
            </a:r>
            <a:r>
              <a:rPr sz="1800" b="0" i="0" u="none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 = 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false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</a:t>
            </a: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then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return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false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</a:t>
            </a: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chem_electron_config_formatter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config_str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))$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62435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Core Components of a STACK Chemistry Module</a:t>
            </a:r>
            <a:endParaRPr lang="de-CH"/>
          </a:p>
        </p:txBody>
      </p:sp>
      <p:sp>
        <p:nvSpPr>
          <p:cNvPr id="183252624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9DF35CB-12A1-F45C-AB46-4AB98340E9D3}" type="datetime1">
              <a:rPr lang="de-CH"/>
              <a:t/>
            </a:fld>
            <a:endParaRPr lang="de-CH"/>
          </a:p>
        </p:txBody>
      </p:sp>
      <p:sp>
        <p:nvSpPr>
          <p:cNvPr id="99486290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EF77C82-0FE9-FC16-09F7-07B3F13EF8F8}" type="slidenum">
              <a:rPr lang="de-CH"/>
              <a:t/>
            </a:fld>
            <a:endParaRPr lang="de-CH"/>
          </a:p>
        </p:txBody>
      </p:sp>
      <p:sp>
        <p:nvSpPr>
          <p:cNvPr id="382040463" name=""/>
          <p:cNvSpPr/>
          <p:nvPr/>
        </p:nvSpPr>
        <p:spPr bwMode="auto">
          <a:xfrm rot="0" flipH="0" flipV="0">
            <a:off x="744899" y="1085849"/>
            <a:ext cx="2952749" cy="1466849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Chemical Databases</a:t>
            </a:r>
            <a:endParaRPr/>
          </a:p>
        </p:txBody>
      </p:sp>
      <p:sp>
        <p:nvSpPr>
          <p:cNvPr id="642142909" name="Titel 1"/>
          <p:cNvSpPr>
            <a:spLocks noGrp="1"/>
          </p:cNvSpPr>
          <p:nvPr/>
        </p:nvSpPr>
        <p:spPr bwMode="auto">
          <a:xfrm flipH="0" flipV="0">
            <a:off x="1624" y="6302374"/>
            <a:ext cx="12268161" cy="534873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module’s data handling enables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intuitive &amp; scalable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question design</a:t>
            </a:r>
            <a:endParaRPr lang="de-DE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9743614" name=""/>
          <p:cNvSpPr/>
          <p:nvPr/>
        </p:nvSpPr>
        <p:spPr bwMode="auto">
          <a:xfrm rot="0" flipH="0" flipV="0">
            <a:off x="744899" y="2895599"/>
            <a:ext cx="2952749" cy="1466849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Data Retrieval</a:t>
            </a:r>
            <a:endParaRPr sz="2400" b="1"/>
          </a:p>
          <a:p>
            <a:pPr algn="ctr">
              <a:defRPr/>
            </a:pPr>
            <a:r>
              <a:rPr sz="2400" b="1"/>
              <a:t>Functions</a:t>
            </a:r>
            <a:endParaRPr/>
          </a:p>
        </p:txBody>
      </p:sp>
      <p:sp>
        <p:nvSpPr>
          <p:cNvPr id="1086215671" name=""/>
          <p:cNvSpPr/>
          <p:nvPr/>
        </p:nvSpPr>
        <p:spPr bwMode="auto">
          <a:xfrm rot="0" flipH="0" flipV="0">
            <a:off x="744899" y="4686299"/>
            <a:ext cx="2952749" cy="1466849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Data Manipulation</a:t>
            </a:r>
            <a:endParaRPr sz="2400" b="1"/>
          </a:p>
          <a:p>
            <a:pPr algn="ctr">
              <a:defRPr/>
            </a:pPr>
            <a:r>
              <a:rPr sz="2400" b="1"/>
              <a:t>Functions</a:t>
            </a:r>
            <a:endParaRPr/>
          </a:p>
        </p:txBody>
      </p:sp>
      <p:sp>
        <p:nvSpPr>
          <p:cNvPr id="2006555636" name=""/>
          <p:cNvSpPr/>
          <p:nvPr/>
        </p:nvSpPr>
        <p:spPr bwMode="auto">
          <a:xfrm rot="0" flipH="0" flipV="0">
            <a:off x="4059599" y="4686299"/>
            <a:ext cx="7495810" cy="1466848"/>
          </a:xfrm>
          <a:prstGeom prst="flowChartAlternateProcess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chem_molar_mass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formula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:= </a:t>
            </a: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block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parsed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total_mass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elem_data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	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parsed</a:t>
            </a:r>
            <a:r>
              <a:rPr sz="1800" b="0" i="0" u="none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 ööö</a:t>
            </a: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chem_parse_formula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formula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endParaRPr sz="1800" b="0" i="0" u="none">
              <a:solidFill>
                <a:srgbClr val="D4D4D4"/>
              </a:solidFill>
              <a:latin typeface="Droid Sans Mono"/>
              <a:ea typeface="Droid Sans Mono"/>
              <a:cs typeface="Droid Sans Mono"/>
            </a:endParaRPr>
          </a:p>
          <a:p>
            <a:pPr>
              <a:defRPr/>
            </a:pPr>
            <a:r>
              <a:rPr sz="1800" b="0" i="0" u="none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	...</a:t>
            </a:r>
            <a:endParaRPr sz="1800" b="0" i="0" u="none">
              <a:solidFill>
                <a:srgbClr val="D4D4D4"/>
              </a:solidFill>
              <a:latin typeface="Droid Sans Mono"/>
              <a:ea typeface="Droid Sans Mono"/>
              <a:cs typeface="Droid Sans Mono"/>
            </a:endParaRPr>
          </a:p>
          <a:p>
            <a:pPr>
              <a:defRPr/>
            </a:pP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   return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stackunits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total_mass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g</a:t>
            </a:r>
            <a:r>
              <a:rPr sz="1800" b="0" i="0" u="none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*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mol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^(-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)))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)$</a:t>
            </a:r>
            <a:endParaRPr sz="1800"/>
          </a:p>
        </p:txBody>
      </p:sp>
      <p:sp>
        <p:nvSpPr>
          <p:cNvPr id="2015482819" name=""/>
          <p:cNvSpPr/>
          <p:nvPr/>
        </p:nvSpPr>
        <p:spPr bwMode="auto">
          <a:xfrm rot="0" flipH="0" flipV="0">
            <a:off x="4059599" y="1085849"/>
            <a:ext cx="7495810" cy="1466848"/>
          </a:xfrm>
          <a:prstGeom prst="flowChartAlternateProcess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%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_CHEM_ELEMENTS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: [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[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"H"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 [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"Hydrogen"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1.01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"1s1"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2.20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	120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13.598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0.754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"+1, -1"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"Gas"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13.81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	20.28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0.00008988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"Nonmetal"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B5CEA8"/>
                </a:solidFill>
                <a:latin typeface="Droid Sans Mono"/>
                <a:ea typeface="Droid Sans Mono"/>
                <a:cs typeface="Droid Sans Mono"/>
              </a:rPr>
              <a:t>1766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</a:t>
            </a:r>
            <a:endParaRPr sz="1800" b="0" i="0" u="none">
              <a:solidFill>
                <a:srgbClr val="FFFFFF"/>
              </a:solidFill>
              <a:latin typeface="Droid Sans Mono"/>
              <a:ea typeface="Droid Sans Mono"/>
              <a:cs typeface="Droid Sans Mono"/>
            </a:endParaRPr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],</a:t>
            </a:r>
            <a:r>
              <a:rPr sz="1800"/>
              <a:t> </a:t>
            </a:r>
            <a:r>
              <a:rPr lang="de-DE" sz="1800" b="0" i="0" u="none" strike="noStrike" cap="none" spc="0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...</a:t>
            </a:r>
            <a:r>
              <a:rPr sz="1800"/>
              <a:t> ]</a:t>
            </a:r>
            <a:endParaRPr lang="de-DE" sz="1800" b="0" i="0" u="none" strike="noStrike" cap="none" spc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533573625" name=""/>
          <p:cNvSpPr/>
          <p:nvPr/>
        </p:nvSpPr>
        <p:spPr bwMode="auto">
          <a:xfrm rot="0" flipH="0" flipV="0">
            <a:off x="4059599" y="2895599"/>
            <a:ext cx="7495810" cy="1466848"/>
          </a:xfrm>
          <a:prstGeom prst="flowChartAlternateProcess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chem_electron_config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element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:= </a:t>
            </a: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block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([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config_str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],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config_str</a:t>
            </a:r>
            <a:r>
              <a:rPr sz="1800" b="0" i="0" u="none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: </a:t>
            </a: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chem_data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element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800" b="0" i="0" u="none">
                <a:solidFill>
                  <a:srgbClr val="CE9178"/>
                </a:solidFill>
                <a:latin typeface="Droid Sans Mono"/>
                <a:ea typeface="Droid Sans Mono"/>
                <a:cs typeface="Droid Sans Mono"/>
              </a:rPr>
              <a:t>"ElectronConfiguration"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</a:t>
            </a: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if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is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config_str</a:t>
            </a:r>
            <a:r>
              <a:rPr sz="1800" b="0" i="0" u="none">
                <a:solidFill>
                  <a:srgbClr val="D4D4D4"/>
                </a:solidFill>
                <a:latin typeface="Droid Sans Mono"/>
                <a:ea typeface="Droid Sans Mono"/>
                <a:cs typeface="Droid Sans Mono"/>
              </a:rPr>
              <a:t> = 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false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 </a:t>
            </a: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then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sz="1800" b="0" i="0" u="none">
                <a:solidFill>
                  <a:srgbClr val="C586C0"/>
                </a:solidFill>
                <a:latin typeface="Droid Sans Mono"/>
                <a:ea typeface="Droid Sans Mono"/>
                <a:cs typeface="Droid Sans Mono"/>
              </a:rPr>
              <a:t>return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false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),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    </a:t>
            </a:r>
            <a:r>
              <a:rPr sz="1800" b="0" i="0" u="none">
                <a:solidFill>
                  <a:srgbClr val="DCDCAA"/>
                </a:solidFill>
                <a:latin typeface="Droid Sans Mono"/>
                <a:ea typeface="Droid Sans Mono"/>
                <a:cs typeface="Droid Sans Mono"/>
              </a:rPr>
              <a:t>chem_electron_config_formatter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(</a:t>
            </a:r>
            <a:r>
              <a:rPr sz="1800" b="0" i="0" u="none">
                <a:solidFill>
                  <a:srgbClr val="9CDCFE"/>
                </a:solidFill>
                <a:latin typeface="Droid Sans Mono"/>
                <a:ea typeface="Droid Sans Mono"/>
                <a:cs typeface="Droid Sans Mono"/>
              </a:rPr>
              <a:t>config_str</a:t>
            </a:r>
            <a:r>
              <a:rPr sz="1800" b="0" i="0" u="none">
                <a:solidFill>
                  <a:srgbClr val="FFFFFF"/>
                </a:solidFill>
                <a:latin typeface="Droid Sans Mono"/>
                <a:ea typeface="Droid Sans Mono"/>
                <a:cs typeface="Droid Sans Mono"/>
              </a:rPr>
              <a:t>))$</a:t>
            </a:r>
            <a:endParaRPr sz="1800"/>
          </a:p>
        </p:txBody>
      </p:sp>
      <p:sp>
        <p:nvSpPr>
          <p:cNvPr id="130848334" name=""/>
          <p:cNvSpPr/>
          <p:nvPr/>
        </p:nvSpPr>
        <p:spPr bwMode="auto">
          <a:xfrm rot="0" flipH="0" flipV="0">
            <a:off x="-9210675" y="1504948"/>
            <a:ext cx="4400550" cy="203834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Randomization</a:t>
            </a:r>
            <a:endParaRPr/>
          </a:p>
        </p:txBody>
      </p:sp>
      <p:sp>
        <p:nvSpPr>
          <p:cNvPr id="1030607558" name=""/>
          <p:cNvSpPr/>
          <p:nvPr/>
        </p:nvSpPr>
        <p:spPr bwMode="auto">
          <a:xfrm rot="0" flipH="0" flipV="0">
            <a:off x="-4810125" y="1504948"/>
            <a:ext cx="4400550" cy="203834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Databases</a:t>
            </a:r>
            <a:endParaRPr sz="2400" b="1"/>
          </a:p>
        </p:txBody>
      </p:sp>
      <p:sp>
        <p:nvSpPr>
          <p:cNvPr id="1453792077" name="Titel 1"/>
          <p:cNvSpPr>
            <a:spLocks noGrp="1"/>
          </p:cNvSpPr>
          <p:nvPr/>
        </p:nvSpPr>
        <p:spPr bwMode="auto">
          <a:xfrm>
            <a:off x="-11555412" y="260348"/>
            <a:ext cx="10728324" cy="900000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>
                <a:solidFill>
                  <a:schemeClr val="bg1"/>
                </a:solidFill>
              </a:rPr>
              <a:t>What STACK needs for </a:t>
            </a:r>
            <a:r>
              <a:rPr lang="de-DE"/>
              <a:t>Chemistry</a:t>
            </a:r>
            <a:endParaRPr lang="de-CH"/>
          </a:p>
        </p:txBody>
      </p:sp>
      <p:sp>
        <p:nvSpPr>
          <p:cNvPr id="462302587" name="Titel 1"/>
          <p:cNvSpPr>
            <a:spLocks noGrp="1"/>
          </p:cNvSpPr>
          <p:nvPr/>
        </p:nvSpPr>
        <p:spPr bwMode="auto">
          <a:xfrm flipH="0" flipV="0">
            <a:off x="-11555412" y="260348"/>
            <a:ext cx="3880211" cy="900000"/>
          </a:xfrm>
        </p:spPr>
        <p:txBody>
          <a:bodyPr vert="horz" lIns="0" tIns="0" rIns="0" bIns="0" rtlCol="0" anchor="t" anchorCtr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>
                <a:solidFill>
                  <a:schemeClr val="tx1"/>
                </a:solidFill>
              </a:rPr>
              <a:t>What STACK needs for</a:t>
            </a:r>
            <a:r>
              <a:rPr lang="de-DE"/>
              <a:t> </a:t>
            </a:r>
            <a:endParaRPr lang="de-CH"/>
          </a:p>
        </p:txBody>
      </p:sp>
      <p:sp>
        <p:nvSpPr>
          <p:cNvPr id="1129733822" name=""/>
          <p:cNvSpPr txBox="1"/>
          <p:nvPr/>
        </p:nvSpPr>
        <p:spPr bwMode="auto">
          <a:xfrm rot="0" flipH="0" flipV="0">
            <a:off x="-11999549" y="2209799"/>
            <a:ext cx="256205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Data Generation</a:t>
            </a:r>
            <a:endParaRPr/>
          </a:p>
        </p:txBody>
      </p:sp>
      <p:sp>
        <p:nvSpPr>
          <p:cNvPr id="765570666" name=""/>
          <p:cNvSpPr txBox="1"/>
          <p:nvPr/>
        </p:nvSpPr>
        <p:spPr bwMode="auto">
          <a:xfrm rot="0" flipH="0" flipV="0">
            <a:off x="-11999549" y="4333693"/>
            <a:ext cx="271985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Data Analysis</a:t>
            </a:r>
            <a:endParaRPr/>
          </a:p>
        </p:txBody>
      </p:sp>
      <p:sp>
        <p:nvSpPr>
          <p:cNvPr id="271645146" name=""/>
          <p:cNvSpPr/>
          <p:nvPr/>
        </p:nvSpPr>
        <p:spPr bwMode="auto">
          <a:xfrm rot="0" flipH="0" flipV="0">
            <a:off x="-9210675" y="3543297"/>
            <a:ext cx="4400550" cy="203834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CAS + Feedback</a:t>
            </a:r>
            <a:endParaRPr sz="2600" b="1"/>
          </a:p>
        </p:txBody>
      </p:sp>
      <p:sp>
        <p:nvSpPr>
          <p:cNvPr id="1182294999" name=""/>
          <p:cNvSpPr/>
          <p:nvPr/>
        </p:nvSpPr>
        <p:spPr bwMode="auto">
          <a:xfrm rot="0" flipH="0" flipV="0">
            <a:off x="-4810125" y="3543296"/>
            <a:ext cx="4400550" cy="2038348"/>
          </a:xfrm>
          <a:prstGeom prst="rect">
            <a:avLst/>
          </a:prstGeom>
          <a:solidFill>
            <a:srgbClr val="002060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400" b="1"/>
              <a:t>Chemistry Functions</a:t>
            </a:r>
            <a:endParaRPr b="0"/>
          </a:p>
        </p:txBody>
      </p:sp>
      <p:sp>
        <p:nvSpPr>
          <p:cNvPr id="1532469247" name="Titel 1"/>
          <p:cNvSpPr>
            <a:spLocks noGrp="1"/>
          </p:cNvSpPr>
          <p:nvPr/>
        </p:nvSpPr>
        <p:spPr bwMode="auto">
          <a:xfrm flipH="0" flipV="0">
            <a:off x="-12285624" y="6302373"/>
            <a:ext cx="12268161" cy="534873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STACK needs chemistry-specific data tools for efficient question generation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92108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>
                <a:solidFill>
                  <a:schemeClr val="tx1"/>
                </a:solidFill>
              </a:rPr>
              <a:t>Combining Chemistry Modules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74454678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507984-7713-69EE-29B8-DD004EB0B176}" type="datetime1">
              <a:rPr lang="de-CH"/>
              <a:t/>
            </a:fld>
            <a:endParaRPr lang="de-CH"/>
          </a:p>
        </p:txBody>
      </p:sp>
      <p:sp>
        <p:nvSpPr>
          <p:cNvPr id="764006021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8919967-1DEC-E3DE-2A4C-98D292D65E23}" type="slidenum">
              <a:rPr lang="de-CH"/>
              <a:t/>
            </a:fld>
            <a:endParaRPr lang="de-CH"/>
          </a:p>
        </p:txBody>
      </p:sp>
      <p:pic>
        <p:nvPicPr>
          <p:cNvPr id="19336173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8234" y="1312157"/>
            <a:ext cx="10680638" cy="4233683"/>
          </a:xfrm>
          <a:prstGeom prst="rect">
            <a:avLst/>
          </a:prstGeom>
        </p:spPr>
      </p:pic>
      <p:sp>
        <p:nvSpPr>
          <p:cNvPr id="310101384" name=""/>
          <p:cNvSpPr/>
          <p:nvPr/>
        </p:nvSpPr>
        <p:spPr bwMode="auto">
          <a:xfrm rot="0" flipH="0" flipV="0">
            <a:off x="7319999" y="1359783"/>
            <a:ext cx="1222374" cy="523874"/>
          </a:xfrm>
          <a:prstGeom prst="rect">
            <a:avLst/>
          </a:prstGeom>
          <a:solidFill>
            <a:schemeClr val="accent1">
              <a:alpha val="49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227786633" name=""/>
          <p:cNvSpPr/>
          <p:nvPr/>
        </p:nvSpPr>
        <p:spPr bwMode="auto">
          <a:xfrm rot="0" flipH="0" flipV="0">
            <a:off x="731836" y="4099807"/>
            <a:ext cx="7905787" cy="523874"/>
          </a:xfrm>
          <a:prstGeom prst="rect">
            <a:avLst/>
          </a:prstGeom>
          <a:solidFill>
            <a:srgbClr val="002060">
              <a:alpha val="4999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rgbClr val="002060"/>
              </a:solidFill>
            </a:endParaRPr>
          </a:p>
        </p:txBody>
      </p:sp>
      <p:cxnSp>
        <p:nvCxnSpPr>
          <p:cNvPr id="218505004" name=""/>
          <p:cNvCxnSpPr/>
          <p:nvPr/>
        </p:nvCxnSpPr>
        <p:spPr bwMode="auto">
          <a:xfrm rot="5399978" flipH="0" flipV="1">
            <a:off x="7747389" y="1160349"/>
            <a:ext cx="359658" cy="0"/>
          </a:xfrm>
          <a:prstGeom prst="line">
            <a:avLst/>
          </a:prstGeom>
          <a:ln w="3809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2648809" name=""/>
          <p:cNvCxnSpPr/>
          <p:nvPr/>
        </p:nvCxnSpPr>
        <p:spPr bwMode="auto">
          <a:xfrm rot="16199969" flipH="0" flipV="1">
            <a:off x="7396199" y="5227637"/>
            <a:ext cx="1069974" cy="0"/>
          </a:xfrm>
          <a:prstGeom prst="line">
            <a:avLst/>
          </a:prstGeom>
          <a:ln w="38099" cap="flat" cmpd="sng" algn="ctr">
            <a:solidFill>
              <a:srgbClr val="00B0F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4171695" name=""/>
          <p:cNvSpPr txBox="1"/>
          <p:nvPr/>
        </p:nvSpPr>
        <p:spPr bwMode="auto">
          <a:xfrm rot="0" flipH="0" flipV="0">
            <a:off x="6585082" y="522960"/>
            <a:ext cx="3018787" cy="457560"/>
          </a:xfrm>
          <a:prstGeom prst="rect">
            <a:avLst/>
          </a:prstGeom>
          <a:noFill/>
          <a:ln w="3809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>
                <a:solidFill>
                  <a:srgbClr val="002060"/>
                </a:solidFill>
              </a:rPr>
              <a:t>Acid-Base Module</a:t>
            </a:r>
            <a:endParaRPr sz="2400">
              <a:solidFill>
                <a:srgbClr val="002060"/>
              </a:solidFill>
            </a:endParaRPr>
          </a:p>
        </p:txBody>
      </p:sp>
      <p:sp>
        <p:nvSpPr>
          <p:cNvPr id="1450036808" name=""/>
          <p:cNvSpPr txBox="1"/>
          <p:nvPr/>
        </p:nvSpPr>
        <p:spPr bwMode="auto">
          <a:xfrm rot="0" flipH="0" flipV="0">
            <a:off x="6952181" y="5762624"/>
            <a:ext cx="198637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>
                <a:solidFill>
                  <a:srgbClr val="00B0F0"/>
                </a:solidFill>
              </a:rPr>
              <a:t>PSE </a:t>
            </a:r>
            <a:r>
              <a:rPr sz="2400" b="1">
                <a:solidFill>
                  <a:srgbClr val="00B0F0"/>
                </a:solidFill>
              </a:rPr>
              <a:t>Module</a:t>
            </a:r>
            <a:endParaRPr sz="2400" b="1">
              <a:solidFill>
                <a:srgbClr val="002060"/>
              </a:solidFill>
            </a:endParaRPr>
          </a:p>
        </p:txBody>
      </p:sp>
      <p:sp>
        <p:nvSpPr>
          <p:cNvPr id="1546617112" name="Titel 1"/>
          <p:cNvSpPr>
            <a:spLocks noGrp="1"/>
          </p:cNvSpPr>
          <p:nvPr/>
        </p:nvSpPr>
        <p:spPr bwMode="auto">
          <a:xfrm flipH="0" flipV="0">
            <a:off x="1624" y="6302374"/>
            <a:ext cx="12268161" cy="534873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Modules &amp; native STACK features enable diverse, randomized chemistry questions</a:t>
            </a:r>
            <a:endParaRPr lang="de-CH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93650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Constraints and Open Challenges </a:t>
            </a:r>
            <a:endParaRPr lang="de-CH"/>
          </a:p>
        </p:txBody>
      </p:sp>
      <p:sp>
        <p:nvSpPr>
          <p:cNvPr id="1246655677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283879" indent="-283879">
              <a:lnSpc>
                <a:spcPct val="500000"/>
              </a:lnSpc>
              <a:buFont typeface="Arial"/>
              <a:buAutoNum type="arabicPeriod"/>
              <a:defRPr/>
            </a:pPr>
            <a:r>
              <a:rPr lang="de-DE" b="1"/>
              <a:t>Error messages</a:t>
            </a:r>
            <a:r>
              <a:rPr lang="de-DE"/>
              <a:t> lack line references </a:t>
            </a:r>
            <a:r>
              <a:rPr lang="de-DE">
                <a:solidFill>
                  <a:schemeClr val="tx1"/>
                </a:solidFill>
              </a:rPr>
              <a:t>for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stack_include()</a:t>
            </a:r>
            <a:r>
              <a:rPr lang="de-DE">
                <a:solidFill>
                  <a:schemeClr val="tx1"/>
                </a:solidFill>
              </a:rPr>
              <a:t>i</a:t>
            </a:r>
            <a:r>
              <a:rPr lang="de-DE"/>
              <a:t>mports</a:t>
            </a:r>
            <a:endParaRPr lang="de-DE"/>
          </a:p>
          <a:p>
            <a:pPr marL="283879" indent="-283879">
              <a:lnSpc>
                <a:spcPct val="500000"/>
              </a:lnSpc>
              <a:buFont typeface="Arial"/>
              <a:buAutoNum type="arabicPeriod"/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Random functions are disabled,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forcing full database imports per question</a:t>
            </a:r>
            <a:endParaRPr lang="de-DE" b="0"/>
          </a:p>
          <a:p>
            <a:pPr marL="283879" indent="-283879">
              <a:lnSpc>
                <a:spcPct val="500000"/>
              </a:lnSpc>
              <a:buFont typeface="Arial"/>
              <a:buAutoNum type="arabicPeriod"/>
              <a:defRPr/>
            </a:pP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Support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complex molecular structures </a:t>
            </a:r>
            <a:r>
              <a:rPr lang="de-DE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is </a:t>
            </a:r>
            <a:r>
              <a:rPr lang="de-DE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limited</a:t>
            </a:r>
            <a:endParaRPr b="0"/>
          </a:p>
          <a:p>
            <a:pPr marL="283879" indent="-283879">
              <a:buFont typeface="Arial"/>
              <a:buAutoNum type="arabicPeriod"/>
              <a:defRPr/>
            </a:pPr>
            <a:endParaRPr lang="de-DE"/>
          </a:p>
          <a:p>
            <a:pPr>
              <a:defRPr/>
            </a:pPr>
            <a:endParaRPr lang="de-DE"/>
          </a:p>
          <a:p>
            <a:pPr>
              <a:defRPr/>
            </a:pPr>
            <a:endParaRPr lang="de-DE"/>
          </a:p>
        </p:txBody>
      </p:sp>
      <p:sp>
        <p:nvSpPr>
          <p:cNvPr id="460665828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78379A3-D062-D9B0-50CA-C4A3639EB0D6}" type="datetime1">
              <a:rPr lang="de-CH"/>
              <a:t/>
            </a:fld>
            <a:endParaRPr lang="de-CH"/>
          </a:p>
        </p:txBody>
      </p:sp>
      <p:sp>
        <p:nvSpPr>
          <p:cNvPr id="1665917514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983FE8-9DEE-4456-3F39-1103F6DE41C5}" type="slidenum">
              <a:rPr lang="de-CH"/>
              <a:t/>
            </a:fld>
            <a:endParaRPr lang="de-CH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060916" name=""/>
          <p:cNvSpPr/>
          <p:nvPr/>
        </p:nvSpPr>
        <p:spPr bwMode="auto">
          <a:xfrm rot="0" flipH="0" flipV="0">
            <a:off x="1949" y="2228850"/>
            <a:ext cx="12211049" cy="4648199"/>
          </a:xfrm>
          <a:prstGeom prst="rect">
            <a:avLst/>
          </a:prstGeom>
          <a:gradFill>
            <a:gsLst>
              <a:gs pos="0">
                <a:schemeClr val="bg2">
                  <a:lumMod val="10000"/>
                  <a:alpha val="99999"/>
                </a:schemeClr>
              </a:gs>
              <a:gs pos="100000">
                <a:schemeClr val="bg2">
                  <a:lumMod val="50000"/>
                  <a:alpha val="99999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356830" name=""/>
          <p:cNvSpPr/>
          <p:nvPr/>
        </p:nvSpPr>
        <p:spPr bwMode="auto">
          <a:xfrm rot="0" flipH="0" flipV="0">
            <a:off x="2685341" y="2235197"/>
            <a:ext cx="8498958" cy="4667249"/>
          </a:xfrm>
          <a:prstGeom prst="trapezoid">
            <a:avLst>
              <a:gd name="adj" fmla="val 35102"/>
            </a:avLst>
          </a:prstGeom>
          <a:solidFill>
            <a:schemeClr val="bg2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079114" name=""/>
          <p:cNvSpPr/>
          <p:nvPr/>
        </p:nvSpPr>
        <p:spPr bwMode="auto">
          <a:xfrm rot="0" flipH="0" flipV="0">
            <a:off x="5260145" y="646112"/>
            <a:ext cx="3100429" cy="1582736"/>
          </a:xfrm>
          <a:prstGeom prst="triangle">
            <a:avLst>
              <a:gd name="adj" fmla="val 50000"/>
            </a:avLst>
          </a:prstGeom>
          <a:solidFill>
            <a:schemeClr val="bg2">
              <a:alpha val="3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874210" name=""/>
          <p:cNvSpPr/>
          <p:nvPr/>
        </p:nvSpPr>
        <p:spPr bwMode="auto">
          <a:xfrm rot="0" flipH="0" flipV="0">
            <a:off x="6422196" y="647699"/>
            <a:ext cx="3100429" cy="1582736"/>
          </a:xfrm>
          <a:prstGeom prst="triangle">
            <a:avLst>
              <a:gd name="adj" fmla="val 50000"/>
            </a:avLst>
          </a:prstGeom>
          <a:solidFill>
            <a:schemeClr val="bg2">
              <a:alpha val="3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5807872" name=""/>
          <p:cNvSpPr/>
          <p:nvPr/>
        </p:nvSpPr>
        <p:spPr bwMode="auto">
          <a:xfrm rot="0" flipH="0" flipV="0">
            <a:off x="4345747" y="647699"/>
            <a:ext cx="3100430" cy="1582737"/>
          </a:xfrm>
          <a:prstGeom prst="triangle">
            <a:avLst>
              <a:gd name="adj" fmla="val 50000"/>
            </a:avLst>
          </a:prstGeom>
          <a:solidFill>
            <a:schemeClr val="bg2">
              <a:alpha val="38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23126011" name="Titel 1"/>
          <p:cNvSpPr>
            <a:spLocks noGrp="1"/>
          </p:cNvSpPr>
          <p:nvPr/>
        </p:nvSpPr>
        <p:spPr bwMode="auto">
          <a:xfrm flipH="0" flipV="0">
            <a:off x="1624" y="6302374"/>
            <a:ext cx="12268161" cy="534874"/>
          </a:xfrm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de-DE" sz="18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Database modules enable efficient question generation across applied sciences</a:t>
            </a:r>
            <a:endParaRPr b="1">
              <a:solidFill>
                <a:schemeClr val="bg1"/>
              </a:solidFill>
            </a:endParaRPr>
          </a:p>
        </p:txBody>
      </p:sp>
      <p:sp>
        <p:nvSpPr>
          <p:cNvPr id="1706675570" name="Titel 1"/>
          <p:cNvSpPr>
            <a:spLocks noGrp="1"/>
          </p:cNvSpPr>
          <p:nvPr>
            <p:ph type="title"/>
          </p:nvPr>
        </p:nvSpPr>
        <p:spPr bwMode="auto">
          <a:xfrm>
            <a:off x="731836" y="260349"/>
            <a:ext cx="10728324" cy="900000"/>
          </a:xfrm>
        </p:spPr>
        <p:txBody>
          <a:bodyPr/>
          <a:lstStyle/>
          <a:p>
            <a:pPr>
              <a:defRPr/>
            </a:pPr>
            <a:r>
              <a:rPr lang="de-DE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Just the Tip of the Iceberg</a:t>
            </a:r>
            <a:r>
              <a:rPr lang="de-DE"/>
              <a:t>...</a:t>
            </a:r>
            <a:endParaRPr lang="de-CH"/>
          </a:p>
        </p:txBody>
      </p:sp>
      <p:sp>
        <p:nvSpPr>
          <p:cNvPr id="2085095309" name="Inhaltsplatzhalter 2"/>
          <p:cNvSpPr>
            <a:spLocks noGrp="1"/>
          </p:cNvSpPr>
          <p:nvPr/>
        </p:nvSpPr>
        <p:spPr bwMode="auto">
          <a:xfrm flipH="0" flipV="0">
            <a:off x="642090" y="4799010"/>
            <a:ext cx="2139689" cy="412749"/>
          </a:xfr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2" indent="-271462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1462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b="1">
                <a:solidFill>
                  <a:schemeClr val="bg1"/>
                </a:solidFill>
              </a:rPr>
              <a:t>Potential Additions</a:t>
            </a:r>
            <a:endParaRPr b="1">
              <a:solidFill>
                <a:schemeClr val="bg1"/>
              </a:solidFill>
            </a:endParaRPr>
          </a:p>
          <a:p>
            <a:pPr>
              <a:defRPr/>
            </a:pPr>
            <a:endParaRPr b="1">
              <a:solidFill>
                <a:schemeClr val="bg1"/>
              </a:solidFill>
            </a:endParaRPr>
          </a:p>
        </p:txBody>
      </p:sp>
      <p:sp>
        <p:nvSpPr>
          <p:cNvPr id="531249798" name=""/>
          <p:cNvSpPr/>
          <p:nvPr/>
        </p:nvSpPr>
        <p:spPr bwMode="auto">
          <a:xfrm rot="0" flipH="0" flipV="0">
            <a:off x="4757670" y="1400175"/>
            <a:ext cx="2243203" cy="682624"/>
          </a:xfrm>
          <a:prstGeom prst="flowChartAlternateProcess">
            <a:avLst/>
          </a:prstGeom>
          <a:solidFill>
            <a:schemeClr val="bg2">
              <a:lumMod val="75000"/>
            </a:schemeClr>
          </a:solidFill>
          <a:ln w="12700" cap="flat" cmpd="sng" algn="ctr">
            <a:solidFill>
              <a:schemeClr val="accent2">
                <a:lumMod val="50196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/>
              <a:t>PSE</a:t>
            </a:r>
            <a:endParaRPr/>
          </a:p>
        </p:txBody>
      </p:sp>
      <p:sp>
        <p:nvSpPr>
          <p:cNvPr id="1865087497" name=""/>
          <p:cNvSpPr/>
          <p:nvPr/>
        </p:nvSpPr>
        <p:spPr bwMode="auto">
          <a:xfrm rot="0" flipH="0" flipV="0">
            <a:off x="3651915" y="2916236"/>
            <a:ext cx="2211510" cy="682624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/>
              <a:t>Nuclide Chart</a:t>
            </a:r>
            <a:endParaRPr b="1"/>
          </a:p>
        </p:txBody>
      </p:sp>
      <p:sp>
        <p:nvSpPr>
          <p:cNvPr id="791284490" name=""/>
          <p:cNvSpPr/>
          <p:nvPr/>
        </p:nvSpPr>
        <p:spPr bwMode="auto">
          <a:xfrm rot="0" flipH="0" flipV="0">
            <a:off x="7154795" y="1400175"/>
            <a:ext cx="2243203" cy="682624"/>
          </a:xfrm>
          <a:prstGeom prst="flowChartAlternateProcess">
            <a:avLst/>
          </a:prstGeom>
          <a:solidFill>
            <a:schemeClr val="bg2">
              <a:lumMod val="75000"/>
            </a:schemeClr>
          </a:solidFill>
          <a:ln w="12699" cap="flat" cmpd="sng" algn="ctr">
            <a:solidFill>
              <a:srgbClr val="00206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/>
              <a:t>Acid-Base</a:t>
            </a:r>
            <a:endParaRPr b="1"/>
          </a:p>
        </p:txBody>
      </p:sp>
      <p:sp>
        <p:nvSpPr>
          <p:cNvPr id="490559133" name=""/>
          <p:cNvSpPr/>
          <p:nvPr/>
        </p:nvSpPr>
        <p:spPr bwMode="auto">
          <a:xfrm rot="0" flipH="0" flipV="0">
            <a:off x="8276397" y="4227510"/>
            <a:ext cx="2243203" cy="682624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/>
              <a:t>Solubility</a:t>
            </a:r>
            <a:r>
              <a:rPr b="1"/>
              <a:t> &amp; Miscibility</a:t>
            </a:r>
            <a:endParaRPr b="1"/>
          </a:p>
        </p:txBody>
      </p:sp>
      <p:sp>
        <p:nvSpPr>
          <p:cNvPr id="596636567" name=""/>
          <p:cNvSpPr/>
          <p:nvPr/>
        </p:nvSpPr>
        <p:spPr bwMode="auto">
          <a:xfrm rot="0" flipH="0" flipV="0">
            <a:off x="3620222" y="4227510"/>
            <a:ext cx="2243203" cy="682624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/>
              <a:t>Electrochemistry</a:t>
            </a:r>
            <a:endParaRPr b="1"/>
          </a:p>
        </p:txBody>
      </p:sp>
      <p:sp>
        <p:nvSpPr>
          <p:cNvPr id="373214060" name=""/>
          <p:cNvSpPr/>
          <p:nvPr/>
        </p:nvSpPr>
        <p:spPr bwMode="auto">
          <a:xfrm rot="0" flipH="0" flipV="0">
            <a:off x="5948295" y="4227510"/>
            <a:ext cx="2243202" cy="682624"/>
          </a:xfrm>
          <a:prstGeom prst="flowChartAlternateProcess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/>
              <a:t>Complex Formation</a:t>
            </a:r>
            <a:endParaRPr b="1"/>
          </a:p>
        </p:txBody>
      </p:sp>
      <p:sp>
        <p:nvSpPr>
          <p:cNvPr id="434546007" name=""/>
          <p:cNvSpPr/>
          <p:nvPr/>
        </p:nvSpPr>
        <p:spPr bwMode="auto">
          <a:xfrm rot="0" flipH="0" flipV="0">
            <a:off x="8276397" y="2916236"/>
            <a:ext cx="2243202" cy="682624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  <a:ln w="12699" cap="flat" cmpd="sng" algn="ctr">
            <a:solidFill>
              <a:srgbClr val="00206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/>
              <a:t>Reactions</a:t>
            </a:r>
            <a:endParaRPr b="1"/>
          </a:p>
        </p:txBody>
      </p:sp>
      <p:sp>
        <p:nvSpPr>
          <p:cNvPr id="87368794" name=""/>
          <p:cNvSpPr/>
          <p:nvPr/>
        </p:nvSpPr>
        <p:spPr bwMode="auto">
          <a:xfrm rot="0" flipH="0" flipV="0">
            <a:off x="5948295" y="2916236"/>
            <a:ext cx="2243202" cy="682624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  <a:ln w="12699" cap="flat" cmpd="sng" algn="ctr">
            <a:solidFill>
              <a:srgbClr val="00206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/>
              <a:t>Thermodynamic Data</a:t>
            </a:r>
            <a:endParaRPr b="1"/>
          </a:p>
        </p:txBody>
      </p:sp>
      <p:sp>
        <p:nvSpPr>
          <p:cNvPr id="548556564" name=""/>
          <p:cNvSpPr/>
          <p:nvPr/>
        </p:nvSpPr>
        <p:spPr bwMode="auto">
          <a:xfrm rot="0" flipH="0" flipV="0">
            <a:off x="5948295" y="5005385"/>
            <a:ext cx="2243202" cy="682624"/>
          </a:xfrm>
          <a:prstGeom prst="flowChartAlternateProcess">
            <a:avLst/>
          </a:prstGeom>
          <a:solidFill>
            <a:srgbClr val="002060"/>
          </a:solidFill>
          <a:ln w="12699" cap="flat" cmpd="sng" algn="ctr">
            <a:solidFill>
              <a:srgbClr val="00206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/>
              <a:t>Crystal Structures</a:t>
            </a:r>
            <a:endParaRPr b="1"/>
          </a:p>
        </p:txBody>
      </p:sp>
      <p:sp>
        <p:nvSpPr>
          <p:cNvPr id="1615936848" name=""/>
          <p:cNvSpPr/>
          <p:nvPr/>
        </p:nvSpPr>
        <p:spPr bwMode="auto">
          <a:xfrm rot="0" flipH="0" flipV="0">
            <a:off x="8276397" y="5005385"/>
            <a:ext cx="2243202" cy="682624"/>
          </a:xfrm>
          <a:prstGeom prst="flowChartAlternateProcess">
            <a:avLst/>
          </a:prstGeom>
          <a:solidFill>
            <a:srgbClr val="002060"/>
          </a:solidFill>
          <a:ln w="12699" cap="flat" cmpd="sng" algn="ctr">
            <a:solidFill>
              <a:srgbClr val="00206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/>
              <a:t>Biochemistry</a:t>
            </a:r>
            <a:endParaRPr b="1"/>
          </a:p>
        </p:txBody>
      </p:sp>
      <p:sp>
        <p:nvSpPr>
          <p:cNvPr id="1810897774" name=""/>
          <p:cNvSpPr/>
          <p:nvPr/>
        </p:nvSpPr>
        <p:spPr bwMode="auto">
          <a:xfrm rot="0" flipH="0" flipV="0">
            <a:off x="3620222" y="5005385"/>
            <a:ext cx="2243202" cy="682624"/>
          </a:xfrm>
          <a:prstGeom prst="flowChartAlternateProcess">
            <a:avLst/>
          </a:prstGeom>
          <a:solidFill>
            <a:srgbClr val="002060"/>
          </a:solidFill>
          <a:ln w="12699" cap="flat" cmpd="sng" algn="ctr">
            <a:solidFill>
              <a:srgbClr val="00206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/>
              <a:t>Material Properties</a:t>
            </a:r>
            <a:endParaRPr b="1"/>
          </a:p>
        </p:txBody>
      </p:sp>
      <p:sp>
        <p:nvSpPr>
          <p:cNvPr id="1931402406" name="Inhaltsplatzhalter 2"/>
          <p:cNvSpPr>
            <a:spLocks noGrp="1"/>
          </p:cNvSpPr>
          <p:nvPr/>
        </p:nvSpPr>
        <p:spPr bwMode="auto">
          <a:xfrm flipH="0" flipV="0">
            <a:off x="642090" y="3051173"/>
            <a:ext cx="1946811" cy="412749"/>
          </a:xfr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2" indent="-271462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1462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de-DE" b="1">
                <a:solidFill>
                  <a:schemeClr val="bg1"/>
                </a:solidFill>
              </a:rPr>
              <a:t>Work in Progress</a:t>
            </a:r>
            <a:endParaRPr b="1">
              <a:solidFill>
                <a:schemeClr val="bg1"/>
              </a:solidFill>
            </a:endParaRPr>
          </a:p>
          <a:p>
            <a:pPr>
              <a:defRPr/>
            </a:pPr>
            <a:endParaRPr b="1">
              <a:solidFill>
                <a:schemeClr val="bg1"/>
              </a:solidFill>
            </a:endParaRPr>
          </a:p>
        </p:txBody>
      </p:sp>
      <p:sp>
        <p:nvSpPr>
          <p:cNvPr id="1430173696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73691" y="6522444"/>
            <a:ext cx="612000" cy="216000"/>
          </a:xfrm>
        </p:spPr>
        <p:txBody>
          <a:bodyPr/>
          <a:lstStyle/>
          <a:p>
            <a:pPr>
              <a:defRPr/>
            </a:pPr>
            <a:fld id="{07C57A28-34AE-5FFF-112B-C242A59F0426}" type="datetime1">
              <a:rPr lang="de-CH">
                <a:solidFill>
                  <a:schemeClr val="bg1"/>
                </a:solidFill>
              </a:rPr>
              <a:t/>
            </a:fld>
            <a:endParaRPr lang="de-CH"/>
          </a:p>
        </p:txBody>
      </p:sp>
      <p:sp>
        <p:nvSpPr>
          <p:cNvPr id="78494994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137584" y="6522444"/>
            <a:ext cx="322576" cy="216000"/>
          </a:xfrm>
        </p:spPr>
        <p:txBody>
          <a:bodyPr/>
          <a:lstStyle/>
          <a:p>
            <a:pPr>
              <a:defRPr/>
            </a:pPr>
            <a:fld id="{84EE02E0-13BE-D621-709C-6ACBB504C9EB}" type="slidenum">
              <a:rPr lang="de-CH">
                <a:solidFill>
                  <a:schemeClr val="bg1"/>
                </a:solidFill>
              </a:rPr>
              <a:t/>
            </a:fld>
            <a:endParaRPr lang="de-CH"/>
          </a:p>
        </p:txBody>
      </p:sp>
      <p:sp>
        <p:nvSpPr>
          <p:cNvPr id="554595094" name="Inhaltsplatzhalter 2"/>
          <p:cNvSpPr>
            <a:spLocks noGrp="1"/>
          </p:cNvSpPr>
          <p:nvPr/>
        </p:nvSpPr>
        <p:spPr bwMode="auto">
          <a:xfrm flipH="0" flipV="0">
            <a:off x="642090" y="1535112"/>
            <a:ext cx="1946811" cy="412749"/>
          </a:xfrm>
        </p:spPr>
        <p:txBody>
          <a:bodyPr vert="horz" lIns="0" tIns="0" rIns="0" bIns="0" rtlCol="0">
            <a:noAutofit/>
          </a:bodyPr>
          <a:lstStyle>
            <a:lvl1pPr marL="270000" indent="-270000" algn="l" defTabSz="914400" rtl="0">
              <a:lnSpc>
                <a:spcPct val="100000"/>
              </a:lnSpc>
              <a:spcBef>
                <a:spcPts val="9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2" indent="-271462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1462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>
              <a:lnSpc>
                <a:spcPct val="100000"/>
              </a:lnSpc>
              <a:spcBef>
                <a:spcPts val="499"/>
              </a:spcBef>
              <a:buFont typeface="Symbol"/>
              <a:buChar char="-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de-DE" b="1">
                <a:solidFill>
                  <a:schemeClr val="tx1"/>
                </a:solidFill>
              </a:rPr>
              <a:t>Shown Today</a:t>
            </a:r>
            <a:endParaRPr b="1">
              <a:solidFill>
                <a:schemeClr val="bg1"/>
              </a:solidFill>
            </a:endParaRPr>
          </a:p>
          <a:p>
            <a:pPr>
              <a:defRPr/>
            </a:pPr>
            <a:endParaRPr b="1">
              <a:solidFill>
                <a:schemeClr val="bg1"/>
              </a:solidFill>
            </a:endParaRPr>
          </a:p>
        </p:txBody>
      </p:sp>
      <p:pic>
        <p:nvPicPr>
          <p:cNvPr id="5423583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800000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56457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Prof. Dr. Beat Muster</a:t>
            </a:r>
            <a:endParaRPr/>
          </a:p>
          <a:p>
            <a:pPr>
              <a:defRPr/>
            </a:pPr>
            <a:r>
              <a:rPr lang="de-DE"/>
              <a:t>Funktion des Präsentierenden</a:t>
            </a:r>
            <a:endParaRPr/>
          </a:p>
          <a:p>
            <a:pPr>
              <a:defRPr/>
            </a:pPr>
            <a:r>
              <a:rPr lang="de-DE"/>
              <a:t>beat.muster@abcd.ethz.ch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ETH Zürich</a:t>
            </a:r>
            <a:endParaRPr/>
          </a:p>
          <a:p>
            <a:pPr>
              <a:defRPr/>
            </a:pPr>
            <a:r>
              <a:rPr lang="de-DE"/>
              <a:t>D-CHAB</a:t>
            </a:r>
            <a:br>
              <a:rPr lang="de-CH"/>
            </a:br>
            <a:r>
              <a:rPr lang="de-DE" b="0" i="0" u="none" strike="noStrike">
                <a:solidFill>
                  <a:srgbClr val="000000"/>
                </a:solidFill>
                <a:latin typeface="Arial"/>
              </a:rPr>
              <a:t>HCI H102</a:t>
            </a:r>
            <a:endParaRPr lang="de-DE" b="0" i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r>
              <a:rPr lang="de-CH" b="0" i="0" u="none" strike="noStrike">
                <a:solidFill>
                  <a:srgbClr val="000000"/>
                </a:solidFill>
                <a:latin typeface="Arial"/>
              </a:rPr>
              <a:t>Strasse Hausnummer</a:t>
            </a:r>
            <a:br>
              <a:rPr lang="de-CH"/>
            </a:br>
            <a:r>
              <a:rPr lang="de-CH" b="0" i="0" u="none" strike="noStrike">
                <a:solidFill>
                  <a:srgbClr val="000000"/>
                </a:solidFill>
                <a:latin typeface="Arial"/>
              </a:rPr>
              <a:t>0000 Ort</a:t>
            </a:r>
            <a:endParaRPr/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www.abcd.ethz.ch</a:t>
            </a:r>
            <a:endParaRPr lang="de-CH"/>
          </a:p>
        </p:txBody>
      </p:sp>
      <p:sp>
        <p:nvSpPr>
          <p:cNvPr id="202442544" name="Bildplatzhalter 1"/>
          <p:cNvSpPr>
            <a:spLocks noGrp="1"/>
          </p:cNvSpPr>
          <p:nvPr>
            <p:ph type="pic" sz="quarter" idx="12"/>
          </p:nvPr>
        </p:nvSpPr>
        <p:spPr bwMode="auto"/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ETH Zürich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TH Zürich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ETH Zürich">
        <a:dk1>
          <a:sysClr val="windowText" lastClr="000000"/>
        </a:dk1>
        <a:lt1>
          <a:sysClr val="window" lastClr="FFFFFF"/>
        </a:lt1>
        <a:dk2>
          <a:srgbClr val="000000"/>
        </a:dk2>
        <a:lt2>
          <a:srgbClr val="FFFFFF"/>
        </a:lt2>
        <a:accent1>
          <a:srgbClr val="215CAF"/>
        </a:accent1>
        <a:accent2>
          <a:srgbClr val="007894"/>
        </a:accent2>
        <a:accent3>
          <a:srgbClr val="627313"/>
        </a:accent3>
        <a:accent4>
          <a:srgbClr val="8E6713"/>
        </a:accent4>
        <a:accent5>
          <a:srgbClr val="B7352D"/>
        </a:accent5>
        <a:accent6>
          <a:srgbClr val="A30774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ONLYOFFICE/9.2.1.43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der Titel der Präsentation</dc:title>
  <dc:creator>Kuster  Josef (HK)</dc:creator>
  <cp:lastModifiedBy/>
  <cp:revision>4</cp:revision>
  <dcterms:created xsi:type="dcterms:W3CDTF">2023-05-24T07:32:52Z</dcterms:created>
  <dcterms:modified xsi:type="dcterms:W3CDTF">2026-01-30T01:08:26Z</dcterms:modified>
</cp:coreProperties>
</file>